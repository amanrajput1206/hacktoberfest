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C1917"/>
                </a:solidFill>
                <a:latin typeface="Calibri"/>
              </a:rPr>
              <a:t>Claims verified on the full requests plan (%)</a:t>
            </a:r>
          </a:p>
        </c:rich>
      </c:tx>
      <c:layout/>
      <c:overlay val="0"/>
    </c:title>
    <c:autoTitleDeleted val="0"/>
    <c:plotArea>
      <c:barChart>
        <c:barDir val="bar"/>
        <c:grouping val="clustered"/>
        <c:ser>
          <c:idx val="0"/>
          <c:order val="0"/>
          <c:tx>
            <c:strRef>
              <c:f>Sheet1!$B$1</c:f>
              <c:strCache>
                <c:ptCount val="1"/>
                <c:pt idx="0">
                  <c:v>Claims verified (%)</c:v>
                </c:pt>
              </c:strCache>
            </c:strRef>
          </c:tx>
          <c:dPt>
            <c:idx val="0"/>
            <c:spPr>
              <a:solidFill>
                <a:srgbClr val="A8A29E"/>
              </a:solidFill>
            </c:spPr>
          </c:dPt>
          <c:dPt>
            <c:idx val="1"/>
            <c:spPr>
              <a:solidFill>
                <a:srgbClr val="C2410C"/>
              </a:solidFill>
            </c:spPr>
          </c:dPt>
          <c:cat>
            <c:strRef>
              <c:f>Sheet1!$A$2:$A$3</c:f>
              <c:strCache>
                <c:ptCount val="2"/>
                <c:pt idx="0">
                  <c:v>gemma3:4b</c:v>
                </c:pt>
                <c:pt idx="1">
                  <c:v>qwen2.5-coder:7b</c:v>
                </c:pt>
              </c:strCache>
            </c:strRef>
          </c:cat>
          <c:val>
            <c:numRef>
              <c:f>Sheet1!$B$2:$B$3</c:f>
              <c:numCache>
                <c:formatCode>General</c:formatCode>
                <c:ptCount val="2"/>
                <c:pt idx="0">
                  <c:v>63</c:v>
                </c:pt>
                <c:pt idx="1">
                  <c:v>86</c:v>
                </c:pt>
              </c:numCache>
            </c:numRef>
          </c:val>
        </c:ser>
        <c:dLbls>
          <c:numFmt formatCode="0&quot;%&quot;" sourceLinked="0"/>
          <c:txPr>
            <a:bodyPr/>
            <a:lstStyle/>
            <a:p>
              <a:pPr>
                <a:defRPr sz="1600" b="1">
                  <a:solidFill>
                    <a:srgbClr val="1C1917"/>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500">
                <a:solidFill>
                  <a:srgbClr val="1C1917"/>
                </a:solidFill>
                <a:latin typeface="Calibri"/>
              </a:defRPr>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answers one question: if a specific maintainer leaves an open-source project, which code loses its last expert, and what should the team do before that person goes? It does three things: it measures who knows what from Git history, it explains the risky code with a local AI model, and it verifies every claim the AI makes.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knowledge is concentrated. requests has 515 contributors, but if just 3 key people left, more than half of its files would have no remaining expert. That's called the truck factor: how many people could get hit by a truck before the project is in trouble. Projects usually discover this only after someone has already left.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Handoff serves one question. The answer comes in three layers: impact numbers say how serious the departure is, the ranked list says where it hurts most, and the knowledge-transfer (KT) plan turns that diagnosis into action: what to learn, what to ask the person while they're still around, and what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for Q&amp;A. The project has two halves joined by one file (analysis.json). The analysis half (Aman) uses math on Git history to decide what is at risk. No AI is involved, so results are repeatable. The generation half (Avi) asks a local AI model to explain the risky code, but only from evidence we hand it, and a fact-checker written in ordinary code removes any claim whose citation doesn't point to that evidence. Because the halves only meet in one JSON file, two people could build them in parallel.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keeps a record of every change: who made it, when, and which files it touched. That's our raw material. Before using it, we clean it: we ignore bots, ignore huge commits that touch over 100 files (usually reformatting or licence headers, which would make one person look like they own everything), follow files through renames, and merge the same person's different names and emails into one developer. We also only count source-code files that still exist today; docs, lockfiles and deleted code are ignored.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can't see what's in someone's head, but Git shows three behaviours that track knowledge: creating a file, changing it repeatedly, and other people changing it afterwards (which makes your knowledge stale). The Degree of Authorship formula, from published research (Fritz et al.; used by Avelino et al.), combines these into a score per person per file. You count as an author when your score is high enough on its own AND at least 75% of the top scorer's on that file. 'Author' in the UI always means this kind of expert, not just anyone who committed.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we know the experts of each file, a departure is easy to simulate. At-risk files are files where the departing person is one of the experts. Orphaned files are files where they are the ONLY expert, so nobody left understands them. Note that 'author' means expert, not committer: on requests, Kenneth has 719 commits but is the expert on 16 files, while Nate has 139 commits and is the expert on 17.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whole-project numbers summarise the damage. Coverage is the share of files that still have at least one expert: for requests it falls from 100% to 65% if Kenneth leaves. The truck factor is how many people can leave before more than half the files have no expert: it falls from 3 to 2. A low truck factor means the project depends on very few people. The truck-factor algorithm is from Avelino et 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Losing the only expert on a tiny unused script is not the same as losing the expert on the core of the library. Importance captures that: 40% file size, 40% fan-in (how many other files import it), 20% how recently the departing person worked on it. Each part is scaled to 0-1 within the repo. A folder's risk adds up importance of its orphaned files plus half of the at-risk ones, so risk is NOT between 0 and 1. These weights are our own documented choice, not from research. Fan-in is only computed for Python.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folder, Handoff suggests a successor: someone other than the leaver, who has worked on that folder, and who committed in the 12 months before the repo's latest commit. Among those, the one with the highest total authorship score over the folder wins. This can pick someone who isn't a full 'author', because the successor rule counts partial knowledge. Inactive experts are skipped because recommending someone who left years ago is useless. In the UI, a filled dot marks active developers and a hollow grey dot inactive ones.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analysis is a diagnosis: where the problem is. The KT plan is the treatment: for each top-risk folder it gives the successor a map, lists the rules and traps for anyone changing the code, gives the project lead a list of questions to ask the person before they leave, and suggests concrete handoff tasks that can become GitHub issues. Every statement links to the exact line or commit on GitHub.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never sees the whole repo. For each risky file we hand it an evidence pack: the code's structure with line numbers, the departing person's commit messages (the 'why'), their own TODO/FIXME/HACK comments (known problems in their words), and their fix/revert commits (where it broke before). It writes notes with a citation for every claim. A fact-checker in plain code removes claims whose citation isn't in the pack. The AI then summarises each folder, and plain code assembles the final plan from checked claims only. Model: qwen2.5-coder 7B via Ollama, running locally.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answer to 'how do you stop the AI making things up?'. Every claim needs a citation to a line or commit we showed the model; the checker drops claims that cite anything else, and entry points must name something that actually appears on the cited line. When intent isn't in the evidence, the model is told to ask a question instead of guessing. We report the result: 81 of 94 claims kept on requests. Be honest in Q&amp;A: verified means the citation is real, not that every sentence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guess the model; we measured it. Both open models ran fully on an 8 GB laptop GPU. On the same evidence, qwen2.5-coder 7B had 86% of its claims verified against 63% for gemma3 4B, mostly because Gemma got line numbers wrong (it put the Request class at line 289; it's at 284). A full plan for requests takes about 2.5 minutes. The 0/7 -&gt; 11/11 story shows the checker doing its job: it caught a prompt bug instantly.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front ends. The demo page (handoff serve) only shows saved results, needs no GPU, and runs on either teammate's laptop. Handoff Studio is a local tool for the machine with Ollama: paste a GitHub URL, pick who leaves, generate the plan with progress, limit to the top 5 or 10 files per folder to save time, stop and resume (finished files are cached), and delete runs to demo adding a repo again.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whether the numbers are made up: the authorship score, the author thresholds and the truck-factor algorithm are from published research (Fritz et al.; Avelino et al.). The importance weights, folder risk, successor rule and filters are our own reasonable, documented choices; validating them (e.g. against CODEOWNERS files) is future work. Saying this plainly is stronger than overclaiming.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 the limits before a judge points them out. Git history only shows commits, not code review or discussions, so it estimates knowledge concentration. Verified claims are correctly cited, not guaranteed true. Python gets the richest evidence (parsed outline, imports, callers, tests); other languages still work but with less detail. And repos that are mostly lists or docs, like awesome-python, show very few developers because only source-code files count.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answers to the questions judges ask most. The longer explanations are in the speaker notes of the earlier slides and in docs/explanations/.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answers to the questions judges ask most. The longer explanations are in the speaker notes of the earlier slides and in docs/explanations/.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one-sentence summary and the three verbs: measure, explain, verify.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917"/>
        </a:solidFill>
        <a:effectLst/>
      </p:bgPr>
    </p:bg>
    <p:spTree>
      <p:nvGrpSpPr>
        <p:cNvPr id="1" name=""/>
        <p:cNvGrpSpPr/>
        <p:nvPr/>
      </p:nvGrpSpPr>
      <p:grpSpPr/>
      <p:sp>
        <p:nvSpPr>
          <p:cNvPr id="2" name="TextBox 1"/>
          <p:cNvSpPr txBox="1"/>
          <p:nvPr/>
        </p:nvSpPr>
        <p:spPr>
          <a:xfrm>
            <a:off x="731520" y="1097280"/>
            <a:ext cx="10058400" cy="365760"/>
          </a:xfrm>
          <a:prstGeom prst="rect">
            <a:avLst/>
          </a:prstGeom>
          <a:noFill/>
        </p:spPr>
        <p:txBody>
          <a:bodyPr wrap="square" lIns="0" rIns="0" tIns="0" bIns="0" anchor="t">
            <a:spAutoFit/>
          </a:bodyPr>
          <a:lstStyle/>
          <a:p>
            <a:pPr algn="l">
              <a:spcAft>
                <a:spcPts val="0"/>
              </a:spcAft>
            </a:pPr>
            <a:r>
              <a:rPr sz="1300" b="1" i="0">
                <a:solidFill>
                  <a:srgbClr val="C2410C"/>
                </a:solidFill>
                <a:latin typeface="Arial"/>
              </a:rPr>
              <a:t>HACKTOBERFEST HACK DAY 2026  ·  AI FOR OPEN SOURCE</a:t>
            </a:r>
          </a:p>
        </p:txBody>
      </p:sp>
      <p:sp>
        <p:nvSpPr>
          <p:cNvPr id="3" name="TextBox 2"/>
          <p:cNvSpPr txBox="1"/>
          <p:nvPr/>
        </p:nvSpPr>
        <p:spPr>
          <a:xfrm>
            <a:off x="731520" y="1645920"/>
            <a:ext cx="10058400" cy="1188720"/>
          </a:xfrm>
          <a:prstGeom prst="rect">
            <a:avLst/>
          </a:prstGeom>
          <a:noFill/>
        </p:spPr>
        <p:txBody>
          <a:bodyPr wrap="square" lIns="0" rIns="0" tIns="0" bIns="0" anchor="t">
            <a:spAutoFit/>
          </a:bodyPr>
          <a:lstStyle/>
          <a:p>
            <a:pPr algn="l">
              <a:spcAft>
                <a:spcPts val="0"/>
              </a:spcAft>
            </a:pPr>
            <a:r>
              <a:rPr sz="7200" b="1" i="0">
                <a:solidFill>
                  <a:srgbClr val="FAFAF9"/>
                </a:solidFill>
                <a:latin typeface="Arial"/>
              </a:rPr>
              <a:t>Handoff</a:t>
            </a:r>
          </a:p>
        </p:txBody>
      </p:sp>
      <p:sp>
        <p:nvSpPr>
          <p:cNvPr id="4" name="TextBox 3"/>
          <p:cNvSpPr txBox="1"/>
          <p:nvPr/>
        </p:nvSpPr>
        <p:spPr>
          <a:xfrm>
            <a:off x="731520" y="2880360"/>
            <a:ext cx="9601200" cy="1097280"/>
          </a:xfrm>
          <a:prstGeom prst="rect">
            <a:avLst/>
          </a:prstGeom>
          <a:noFill/>
        </p:spPr>
        <p:txBody>
          <a:bodyPr wrap="square" lIns="0" rIns="0" tIns="0" bIns="0" anchor="t">
            <a:spAutoFit/>
          </a:bodyPr>
          <a:lstStyle/>
          <a:p>
            <a:pPr algn="l">
              <a:spcAft>
                <a:spcPts val="0"/>
              </a:spcAft>
            </a:pPr>
            <a:r>
              <a:rPr sz="2600" b="0" i="0">
                <a:solidFill>
                  <a:srgbClr val="FAFAF9"/>
                </a:solidFill>
                <a:latin typeface="Calibri"/>
              </a:rPr>
              <a:t>What do we lose when a maintainer leaves, and what should we do before they go?</a:t>
            </a:r>
          </a:p>
        </p:txBody>
      </p:sp>
      <p:sp>
        <p:nvSpPr>
          <p:cNvPr id="5" name="TextBox 4"/>
          <p:cNvSpPr txBox="1"/>
          <p:nvPr/>
        </p:nvSpPr>
        <p:spPr>
          <a:xfrm>
            <a:off x="731520" y="4069080"/>
            <a:ext cx="9144000" cy="365760"/>
          </a:xfrm>
          <a:prstGeom prst="rect">
            <a:avLst/>
          </a:prstGeom>
          <a:noFill/>
        </p:spPr>
        <p:txBody>
          <a:bodyPr wrap="square" lIns="0" rIns="0" tIns="0" bIns="0" anchor="t">
            <a:spAutoFit/>
          </a:bodyPr>
          <a:lstStyle/>
          <a:p>
            <a:pPr algn="l">
              <a:spcAft>
                <a:spcPts val="0"/>
              </a:spcAft>
            </a:pPr>
            <a:r>
              <a:rPr sz="1600" b="0" i="0">
                <a:solidFill>
                  <a:srgbClr val="A8A29E"/>
                </a:solidFill>
                <a:latin typeface="Calibri"/>
              </a:rPr>
              <a:t>How the project works, from first principles</a:t>
            </a:r>
          </a:p>
        </p:txBody>
      </p:sp>
      <p:sp>
        <p:nvSpPr>
          <p:cNvPr id="6" name="Oval 5"/>
          <p:cNvSpPr/>
          <p:nvPr/>
        </p:nvSpPr>
        <p:spPr>
          <a:xfrm>
            <a:off x="731520" y="507492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1</a:t>
            </a:r>
          </a:p>
        </p:txBody>
      </p:sp>
      <p:sp>
        <p:nvSpPr>
          <p:cNvPr id="7" name="TextBox 6"/>
          <p:cNvSpPr txBox="1"/>
          <p:nvPr/>
        </p:nvSpPr>
        <p:spPr>
          <a:xfrm>
            <a:off x="1371600" y="5120640"/>
            <a:ext cx="1645920" cy="457200"/>
          </a:xfrm>
          <a:prstGeom prst="rect">
            <a:avLst/>
          </a:prstGeom>
          <a:noFill/>
        </p:spPr>
        <p:txBody>
          <a:bodyPr wrap="square" lIns="0" rIns="0" tIns="0" bIns="0" anchor="ctr">
            <a:spAutoFit/>
          </a:bodyPr>
          <a:lstStyle/>
          <a:p>
            <a:pPr algn="l">
              <a:spcAft>
                <a:spcPts val="0"/>
              </a:spcAft>
            </a:pPr>
            <a:r>
              <a:rPr sz="2000" b="1" i="0">
                <a:solidFill>
                  <a:srgbClr val="FAFAF9"/>
                </a:solidFill>
                <a:latin typeface="Arial"/>
              </a:rPr>
              <a:t>Measure</a:t>
            </a:r>
          </a:p>
        </p:txBody>
      </p:sp>
      <p:sp>
        <p:nvSpPr>
          <p:cNvPr id="8" name="Oval 7"/>
          <p:cNvSpPr/>
          <p:nvPr/>
        </p:nvSpPr>
        <p:spPr>
          <a:xfrm>
            <a:off x="3108960" y="507492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2</a:t>
            </a:r>
          </a:p>
        </p:txBody>
      </p:sp>
      <p:sp>
        <p:nvSpPr>
          <p:cNvPr id="9" name="TextBox 8"/>
          <p:cNvSpPr txBox="1"/>
          <p:nvPr/>
        </p:nvSpPr>
        <p:spPr>
          <a:xfrm>
            <a:off x="3749040" y="5120640"/>
            <a:ext cx="1645920" cy="457200"/>
          </a:xfrm>
          <a:prstGeom prst="rect">
            <a:avLst/>
          </a:prstGeom>
          <a:noFill/>
        </p:spPr>
        <p:txBody>
          <a:bodyPr wrap="square" lIns="0" rIns="0" tIns="0" bIns="0" anchor="ctr">
            <a:spAutoFit/>
          </a:bodyPr>
          <a:lstStyle/>
          <a:p>
            <a:pPr algn="l">
              <a:spcAft>
                <a:spcPts val="0"/>
              </a:spcAft>
            </a:pPr>
            <a:r>
              <a:rPr sz="2000" b="1" i="0">
                <a:solidFill>
                  <a:srgbClr val="FAFAF9"/>
                </a:solidFill>
                <a:latin typeface="Arial"/>
              </a:rPr>
              <a:t>Explain</a:t>
            </a:r>
          </a:p>
        </p:txBody>
      </p:sp>
      <p:sp>
        <p:nvSpPr>
          <p:cNvPr id="10" name="Oval 9"/>
          <p:cNvSpPr/>
          <p:nvPr/>
        </p:nvSpPr>
        <p:spPr>
          <a:xfrm>
            <a:off x="5486400" y="507492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3</a:t>
            </a:r>
          </a:p>
        </p:txBody>
      </p:sp>
      <p:sp>
        <p:nvSpPr>
          <p:cNvPr id="11" name="TextBox 10"/>
          <p:cNvSpPr txBox="1"/>
          <p:nvPr/>
        </p:nvSpPr>
        <p:spPr>
          <a:xfrm>
            <a:off x="6126480" y="5120640"/>
            <a:ext cx="1645920" cy="457200"/>
          </a:xfrm>
          <a:prstGeom prst="rect">
            <a:avLst/>
          </a:prstGeom>
          <a:noFill/>
        </p:spPr>
        <p:txBody>
          <a:bodyPr wrap="square" lIns="0" rIns="0" tIns="0" bIns="0" anchor="ctr">
            <a:spAutoFit/>
          </a:bodyPr>
          <a:lstStyle/>
          <a:p>
            <a:pPr algn="l">
              <a:spcAft>
                <a:spcPts val="0"/>
              </a:spcAft>
            </a:pPr>
            <a:r>
              <a:rPr sz="2000" b="1" i="0">
                <a:solidFill>
                  <a:srgbClr val="FAFAF9"/>
                </a:solidFill>
                <a:latin typeface="Arial"/>
              </a:rPr>
              <a:t>Verify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THE PROBLEM</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Knowledge leaves with people</a:t>
            </a:r>
          </a:p>
        </p:txBody>
      </p:sp>
      <p:sp>
        <p:nvSpPr>
          <p:cNvPr id="4" name="Oval 3"/>
          <p:cNvSpPr/>
          <p:nvPr/>
        </p:nvSpPr>
        <p:spPr>
          <a:xfrm>
            <a:off x="548640" y="182880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1</a:t>
            </a:r>
          </a:p>
        </p:txBody>
      </p:sp>
      <p:sp>
        <p:nvSpPr>
          <p:cNvPr id="5" name="TextBox 4"/>
          <p:cNvSpPr txBox="1"/>
          <p:nvPr/>
        </p:nvSpPr>
        <p:spPr>
          <a:xfrm>
            <a:off x="1234440" y="1810512"/>
            <a:ext cx="4937760" cy="36576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Open source runs on a few people</a:t>
            </a:r>
          </a:p>
        </p:txBody>
      </p:sp>
      <p:sp>
        <p:nvSpPr>
          <p:cNvPr id="6" name="TextBox 5"/>
          <p:cNvSpPr txBox="1"/>
          <p:nvPr/>
        </p:nvSpPr>
        <p:spPr>
          <a:xfrm>
            <a:off x="1234440" y="2212848"/>
            <a:ext cx="4937760" cy="640080"/>
          </a:xfrm>
          <a:prstGeom prst="rect">
            <a:avLst/>
          </a:prstGeom>
          <a:noFill/>
        </p:spPr>
        <p:txBody>
          <a:bodyPr wrap="square" lIns="0" rIns="0" tIns="0" bIns="0" anchor="t">
            <a:spAutoFit/>
          </a:bodyPr>
          <a:lstStyle/>
          <a:p>
            <a:pPr algn="l">
              <a:spcAft>
                <a:spcPts val="0"/>
              </a:spcAft>
            </a:pPr>
            <a:r>
              <a:rPr sz="1600" b="0" i="0">
                <a:solidFill>
                  <a:srgbClr val="57534E"/>
                </a:solidFill>
                <a:latin typeface="Calibri"/>
              </a:rPr>
              <a:t>A handful of maintainers understand most of the code.</a:t>
            </a:r>
          </a:p>
        </p:txBody>
      </p:sp>
      <p:sp>
        <p:nvSpPr>
          <p:cNvPr id="7" name="Oval 6"/>
          <p:cNvSpPr/>
          <p:nvPr/>
        </p:nvSpPr>
        <p:spPr>
          <a:xfrm>
            <a:off x="548640" y="315468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2</a:t>
            </a:r>
          </a:p>
        </p:txBody>
      </p:sp>
      <p:sp>
        <p:nvSpPr>
          <p:cNvPr id="8" name="TextBox 7"/>
          <p:cNvSpPr txBox="1"/>
          <p:nvPr/>
        </p:nvSpPr>
        <p:spPr>
          <a:xfrm>
            <a:off x="1234440" y="3136392"/>
            <a:ext cx="4937760" cy="36576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Contributor counts hide it</a:t>
            </a:r>
          </a:p>
        </p:txBody>
      </p:sp>
      <p:sp>
        <p:nvSpPr>
          <p:cNvPr id="9" name="TextBox 8"/>
          <p:cNvSpPr txBox="1"/>
          <p:nvPr/>
        </p:nvSpPr>
        <p:spPr>
          <a:xfrm>
            <a:off x="1234440" y="3538728"/>
            <a:ext cx="4937760" cy="640080"/>
          </a:xfrm>
          <a:prstGeom prst="rect">
            <a:avLst/>
          </a:prstGeom>
          <a:noFill/>
        </p:spPr>
        <p:txBody>
          <a:bodyPr wrap="square" lIns="0" rIns="0" tIns="0" bIns="0" anchor="t">
            <a:spAutoFit/>
          </a:bodyPr>
          <a:lstStyle/>
          <a:p>
            <a:pPr algn="l">
              <a:spcAft>
                <a:spcPts val="0"/>
              </a:spcAft>
            </a:pPr>
            <a:r>
              <a:rPr sz="1600" b="0" i="0">
                <a:solidFill>
                  <a:srgbClr val="57534E"/>
                </a:solidFill>
                <a:latin typeface="Calibri"/>
              </a:rPr>
              <a:t>Hundreds of names on GitHub, but most made small, one-off changes.</a:t>
            </a:r>
          </a:p>
        </p:txBody>
      </p:sp>
      <p:sp>
        <p:nvSpPr>
          <p:cNvPr id="10" name="Oval 9"/>
          <p:cNvSpPr/>
          <p:nvPr/>
        </p:nvSpPr>
        <p:spPr>
          <a:xfrm>
            <a:off x="548640" y="448056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3</a:t>
            </a:r>
          </a:p>
        </p:txBody>
      </p:sp>
      <p:sp>
        <p:nvSpPr>
          <p:cNvPr id="11" name="TextBox 10"/>
          <p:cNvSpPr txBox="1"/>
          <p:nvPr/>
        </p:nvSpPr>
        <p:spPr>
          <a:xfrm>
            <a:off x="1234440" y="4462272"/>
            <a:ext cx="4937760" cy="36576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Teams find out too late</a:t>
            </a:r>
          </a:p>
        </p:txBody>
      </p:sp>
      <p:sp>
        <p:nvSpPr>
          <p:cNvPr id="12" name="TextBox 11"/>
          <p:cNvSpPr txBox="1"/>
          <p:nvPr/>
        </p:nvSpPr>
        <p:spPr>
          <a:xfrm>
            <a:off x="1234440" y="4864608"/>
            <a:ext cx="4937760" cy="640080"/>
          </a:xfrm>
          <a:prstGeom prst="rect">
            <a:avLst/>
          </a:prstGeom>
          <a:noFill/>
        </p:spPr>
        <p:txBody>
          <a:bodyPr wrap="square" lIns="0" rIns="0" tIns="0" bIns="0" anchor="t">
            <a:spAutoFit/>
          </a:bodyPr>
          <a:lstStyle/>
          <a:p>
            <a:pPr algn="l">
              <a:spcAft>
                <a:spcPts val="0"/>
              </a:spcAft>
            </a:pPr>
            <a:r>
              <a:rPr sz="1600" b="0" i="0">
                <a:solidFill>
                  <a:srgbClr val="57534E"/>
                </a:solidFill>
                <a:latin typeface="Calibri"/>
              </a:rPr>
              <a:t>Only when a bug lands in code nobody left can explain.</a:t>
            </a:r>
          </a:p>
        </p:txBody>
      </p:sp>
      <p:sp>
        <p:nvSpPr>
          <p:cNvPr id="13" name="Rounded Rectangle 12"/>
          <p:cNvSpPr/>
          <p:nvPr/>
        </p:nvSpPr>
        <p:spPr>
          <a:xfrm>
            <a:off x="6675120" y="1737360"/>
            <a:ext cx="4937760" cy="420624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40880" y="1965960"/>
            <a:ext cx="4389120" cy="36576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psf/requests, one of Python's most used libraries</a:t>
            </a:r>
          </a:p>
        </p:txBody>
      </p:sp>
      <p:sp>
        <p:nvSpPr>
          <p:cNvPr id="15" name="TextBox 14"/>
          <p:cNvSpPr txBox="1"/>
          <p:nvPr/>
        </p:nvSpPr>
        <p:spPr>
          <a:xfrm>
            <a:off x="7040880" y="2423160"/>
            <a:ext cx="2103120" cy="1097280"/>
          </a:xfrm>
          <a:prstGeom prst="rect">
            <a:avLst/>
          </a:prstGeom>
          <a:noFill/>
        </p:spPr>
        <p:txBody>
          <a:bodyPr wrap="square" lIns="0" rIns="0" tIns="0" bIns="0" anchor="t">
            <a:spAutoFit/>
          </a:bodyPr>
          <a:lstStyle/>
          <a:p>
            <a:pPr algn="l">
              <a:spcAft>
                <a:spcPts val="0"/>
              </a:spcAft>
            </a:pPr>
            <a:r>
              <a:rPr sz="6000" b="1" i="0">
                <a:solidFill>
                  <a:srgbClr val="1C1917"/>
                </a:solidFill>
                <a:latin typeface="Arial"/>
              </a:rPr>
              <a:t>515</a:t>
            </a:r>
          </a:p>
        </p:txBody>
      </p:sp>
      <p:sp>
        <p:nvSpPr>
          <p:cNvPr id="16" name="TextBox 15"/>
          <p:cNvSpPr txBox="1"/>
          <p:nvPr/>
        </p:nvSpPr>
        <p:spPr>
          <a:xfrm>
            <a:off x="7040880" y="3520440"/>
            <a:ext cx="2103120" cy="54864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people have contributed code</a:t>
            </a:r>
          </a:p>
        </p:txBody>
      </p:sp>
      <p:sp>
        <p:nvSpPr>
          <p:cNvPr id="17" name="TextBox 16"/>
          <p:cNvSpPr txBox="1"/>
          <p:nvPr/>
        </p:nvSpPr>
        <p:spPr>
          <a:xfrm>
            <a:off x="9418320" y="2423160"/>
            <a:ext cx="2011680" cy="1097280"/>
          </a:xfrm>
          <a:prstGeom prst="rect">
            <a:avLst/>
          </a:prstGeom>
          <a:noFill/>
        </p:spPr>
        <p:txBody>
          <a:bodyPr wrap="square" lIns="0" rIns="0" tIns="0" bIns="0" anchor="t">
            <a:spAutoFit/>
          </a:bodyPr>
          <a:lstStyle/>
          <a:p>
            <a:pPr algn="l">
              <a:spcAft>
                <a:spcPts val="0"/>
              </a:spcAft>
            </a:pPr>
            <a:r>
              <a:rPr sz="6000" b="1" i="0">
                <a:solidFill>
                  <a:srgbClr val="C2410C"/>
                </a:solidFill>
                <a:latin typeface="Arial"/>
              </a:rPr>
              <a:t>3</a:t>
            </a:r>
          </a:p>
        </p:txBody>
      </p:sp>
      <p:sp>
        <p:nvSpPr>
          <p:cNvPr id="18" name="TextBox 17"/>
          <p:cNvSpPr txBox="1"/>
          <p:nvPr/>
        </p:nvSpPr>
        <p:spPr>
          <a:xfrm>
            <a:off x="9418320" y="3520440"/>
            <a:ext cx="2011680" cy="54864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people hold most of the code knowledge</a:t>
            </a:r>
          </a:p>
        </p:txBody>
      </p:sp>
      <p:sp>
        <p:nvSpPr>
          <p:cNvPr id="19" name="TextBox 18"/>
          <p:cNvSpPr txBox="1"/>
          <p:nvPr/>
        </p:nvSpPr>
        <p:spPr>
          <a:xfrm>
            <a:off x="7040880" y="4526280"/>
            <a:ext cx="4389120" cy="1188720"/>
          </a:xfrm>
          <a:prstGeom prst="rect">
            <a:avLst/>
          </a:prstGeom>
          <a:noFill/>
        </p:spPr>
        <p:txBody>
          <a:bodyPr wrap="square" lIns="0" rIns="0" tIns="0" bIns="0" anchor="t">
            <a:spAutoFit/>
          </a:bodyPr>
          <a:lstStyle/>
          <a:p>
            <a:pPr algn="l">
              <a:spcAft>
                <a:spcPts val="0"/>
              </a:spcAft>
            </a:pPr>
            <a:r>
              <a:rPr sz="1600" b="0" i="0">
                <a:solidFill>
                  <a:srgbClr val="1C1917"/>
                </a:solidFill>
                <a:latin typeface="Calibri"/>
              </a:rPr>
              <a:t>If those 3 leave, more than half the files have nobody left who knows them. That number is the truck factor.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WHAT HANDOFF DOES</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One question, three answers</a:t>
            </a:r>
          </a:p>
        </p:txBody>
      </p:sp>
      <p:sp>
        <p:nvSpPr>
          <p:cNvPr id="4" name="Rounded Rectangle 3"/>
          <p:cNvSpPr/>
          <p:nvPr/>
        </p:nvSpPr>
        <p:spPr>
          <a:xfrm>
            <a:off x="548640" y="1691640"/>
            <a:ext cx="11064240" cy="960120"/>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691640"/>
            <a:ext cx="10424160" cy="960120"/>
          </a:xfrm>
          <a:prstGeom prst="rect">
            <a:avLst/>
          </a:prstGeom>
          <a:noFill/>
        </p:spPr>
        <p:txBody>
          <a:bodyPr wrap="square" lIns="0" rIns="0" tIns="0" bIns="0" anchor="ctr">
            <a:spAutoFit/>
          </a:bodyPr>
          <a:lstStyle/>
          <a:p>
            <a:pPr algn="l">
              <a:spcAft>
                <a:spcPts val="0"/>
              </a:spcAft>
            </a:pPr>
            <a:r>
              <a:rPr sz="2000" b="1" i="0">
                <a:solidFill>
                  <a:srgbClr val="1C1917"/>
                </a:solidFill>
                <a:latin typeface="Arial"/>
              </a:rPr>
              <a:t>“If this person leaves, what do we lose, and what should we do before they go?”</a:t>
            </a:r>
          </a:p>
        </p:txBody>
      </p:sp>
      <p:sp>
        <p:nvSpPr>
          <p:cNvPr id="6" name="Rounded Rectangle 5"/>
          <p:cNvSpPr/>
          <p:nvPr/>
        </p:nvSpPr>
        <p:spPr>
          <a:xfrm>
            <a:off x="548640" y="2971800"/>
            <a:ext cx="3566160" cy="310896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68680" y="324612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1</a:t>
            </a:r>
          </a:p>
        </p:txBody>
      </p:sp>
      <p:sp>
        <p:nvSpPr>
          <p:cNvPr id="8" name="TextBox 7"/>
          <p:cNvSpPr txBox="1"/>
          <p:nvPr/>
        </p:nvSpPr>
        <p:spPr>
          <a:xfrm>
            <a:off x="868680" y="3931920"/>
            <a:ext cx="292608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Impact numbers</a:t>
            </a:r>
          </a:p>
        </p:txBody>
      </p:sp>
      <p:sp>
        <p:nvSpPr>
          <p:cNvPr id="9" name="TextBox 8"/>
          <p:cNvSpPr txBox="1"/>
          <p:nvPr/>
        </p:nvSpPr>
        <p:spPr>
          <a:xfrm>
            <a:off x="868680" y="4343400"/>
            <a:ext cx="2926080" cy="365760"/>
          </a:xfrm>
          <a:prstGeom prst="rect">
            <a:avLst/>
          </a:prstGeom>
          <a:noFill/>
        </p:spPr>
        <p:txBody>
          <a:bodyPr wrap="square" lIns="0" rIns="0" tIns="0" bIns="0" anchor="t">
            <a:spAutoFit/>
          </a:bodyPr>
          <a:lstStyle/>
          <a:p>
            <a:pPr algn="l">
              <a:spcAft>
                <a:spcPts val="0"/>
              </a:spcAft>
            </a:pPr>
            <a:r>
              <a:rPr sz="1500" b="1" i="0">
                <a:solidFill>
                  <a:srgbClr val="C2410C"/>
                </a:solidFill>
                <a:latin typeface="Calibri"/>
              </a:rPr>
              <a:t>How bad is it?</a:t>
            </a:r>
          </a:p>
        </p:txBody>
      </p:sp>
      <p:sp>
        <p:nvSpPr>
          <p:cNvPr id="10" name="TextBox 9"/>
          <p:cNvSpPr txBox="1"/>
          <p:nvPr/>
        </p:nvSpPr>
        <p:spPr>
          <a:xfrm>
            <a:off x="868680" y="4754880"/>
            <a:ext cx="2926080" cy="118872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13 files lose their only expert. Coverage drops 100% → 65%. Truck factor 3 → 2.</a:t>
            </a:r>
          </a:p>
        </p:txBody>
      </p:sp>
      <p:sp>
        <p:nvSpPr>
          <p:cNvPr id="11" name="Rounded Rectangle 10"/>
          <p:cNvSpPr/>
          <p:nvPr/>
        </p:nvSpPr>
        <p:spPr>
          <a:xfrm>
            <a:off x="4297679" y="2971800"/>
            <a:ext cx="3566160" cy="310896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617719" y="324612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2</a:t>
            </a:r>
          </a:p>
        </p:txBody>
      </p:sp>
      <p:sp>
        <p:nvSpPr>
          <p:cNvPr id="13" name="TextBox 12"/>
          <p:cNvSpPr txBox="1"/>
          <p:nvPr/>
        </p:nvSpPr>
        <p:spPr>
          <a:xfrm>
            <a:off x="4617719" y="3931920"/>
            <a:ext cx="292608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Ranked code</a:t>
            </a:r>
          </a:p>
        </p:txBody>
      </p:sp>
      <p:sp>
        <p:nvSpPr>
          <p:cNvPr id="14" name="TextBox 13"/>
          <p:cNvSpPr txBox="1"/>
          <p:nvPr/>
        </p:nvSpPr>
        <p:spPr>
          <a:xfrm>
            <a:off x="4617719" y="4343400"/>
            <a:ext cx="2926080" cy="365760"/>
          </a:xfrm>
          <a:prstGeom prst="rect">
            <a:avLst/>
          </a:prstGeom>
          <a:noFill/>
        </p:spPr>
        <p:txBody>
          <a:bodyPr wrap="square" lIns="0" rIns="0" tIns="0" bIns="0" anchor="t">
            <a:spAutoFit/>
          </a:bodyPr>
          <a:lstStyle/>
          <a:p>
            <a:pPr algn="l">
              <a:spcAft>
                <a:spcPts val="0"/>
              </a:spcAft>
            </a:pPr>
            <a:r>
              <a:rPr sz="1500" b="1" i="0">
                <a:solidFill>
                  <a:srgbClr val="C2410C"/>
                </a:solidFill>
                <a:latin typeface="Calibri"/>
              </a:rPr>
              <a:t>Where does it hurt most?</a:t>
            </a:r>
          </a:p>
        </p:txBody>
      </p:sp>
      <p:sp>
        <p:nvSpPr>
          <p:cNvPr id="15" name="TextBox 14"/>
          <p:cNvSpPr txBox="1"/>
          <p:nvPr/>
        </p:nvSpPr>
        <p:spPr>
          <a:xfrm>
            <a:off x="4617719" y="4754880"/>
            <a:ext cx="2926080" cy="118872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Folders ranked by how much important code loses its expert, with a suggested successor.</a:t>
            </a:r>
          </a:p>
        </p:txBody>
      </p:sp>
      <p:sp>
        <p:nvSpPr>
          <p:cNvPr id="16" name="Rounded Rectangle 15"/>
          <p:cNvSpPr/>
          <p:nvPr/>
        </p:nvSpPr>
        <p:spPr>
          <a:xfrm>
            <a:off x="8046719" y="2971800"/>
            <a:ext cx="3566160" cy="310896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66759" y="324612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3</a:t>
            </a:r>
          </a:p>
        </p:txBody>
      </p:sp>
      <p:sp>
        <p:nvSpPr>
          <p:cNvPr id="18" name="TextBox 17"/>
          <p:cNvSpPr txBox="1"/>
          <p:nvPr/>
        </p:nvSpPr>
        <p:spPr>
          <a:xfrm>
            <a:off x="8366759" y="3931920"/>
            <a:ext cx="292608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KT plan</a:t>
            </a:r>
          </a:p>
        </p:txBody>
      </p:sp>
      <p:sp>
        <p:nvSpPr>
          <p:cNvPr id="19" name="TextBox 18"/>
          <p:cNvSpPr txBox="1"/>
          <p:nvPr/>
        </p:nvSpPr>
        <p:spPr>
          <a:xfrm>
            <a:off x="8366759" y="4343400"/>
            <a:ext cx="2926080" cy="365760"/>
          </a:xfrm>
          <a:prstGeom prst="rect">
            <a:avLst/>
          </a:prstGeom>
          <a:noFill/>
        </p:spPr>
        <p:txBody>
          <a:bodyPr wrap="square" lIns="0" rIns="0" tIns="0" bIns="0" anchor="t">
            <a:spAutoFit/>
          </a:bodyPr>
          <a:lstStyle/>
          <a:p>
            <a:pPr algn="l">
              <a:spcAft>
                <a:spcPts val="0"/>
              </a:spcAft>
            </a:pPr>
            <a:r>
              <a:rPr sz="1500" b="1" i="0">
                <a:solidFill>
                  <a:srgbClr val="C2410C"/>
                </a:solidFill>
                <a:latin typeface="Calibri"/>
              </a:rPr>
              <a:t>What do we do now?</a:t>
            </a:r>
          </a:p>
        </p:txBody>
      </p:sp>
      <p:sp>
        <p:nvSpPr>
          <p:cNvPr id="20" name="TextBox 19"/>
          <p:cNvSpPr txBox="1"/>
          <p:nvPr/>
        </p:nvSpPr>
        <p:spPr>
          <a:xfrm>
            <a:off x="8366759" y="4754880"/>
            <a:ext cx="2926080" cy="118872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What the code does, its traps, questions to ask before they leave, and handoff tasks.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THE BIG PICTURE</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Math decides, AI explains, code checks</a:t>
            </a:r>
          </a:p>
        </p:txBody>
      </p:sp>
      <p:sp>
        <p:nvSpPr>
          <p:cNvPr id="4" name="Rounded Rectangle 3"/>
          <p:cNvSpPr/>
          <p:nvPr/>
        </p:nvSpPr>
        <p:spPr>
          <a:xfrm>
            <a:off x="548640" y="2103120"/>
            <a:ext cx="1828800" cy="210312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2286000"/>
            <a:ext cx="1463040" cy="411480"/>
          </a:xfrm>
          <a:prstGeom prst="rect">
            <a:avLst/>
          </a:prstGeom>
          <a:noFill/>
        </p:spPr>
        <p:txBody>
          <a:bodyPr wrap="square" lIns="0" rIns="0" tIns="0" bIns="0" anchor="t">
            <a:spAutoFit/>
          </a:bodyPr>
          <a:lstStyle/>
          <a:p>
            <a:pPr algn="l">
              <a:spcAft>
                <a:spcPts val="0"/>
              </a:spcAft>
            </a:pPr>
            <a:r>
              <a:rPr sz="1900" b="1" i="0">
                <a:solidFill>
                  <a:srgbClr val="1C1917"/>
                </a:solidFill>
                <a:latin typeface="Arial"/>
              </a:rPr>
              <a:t>Git history</a:t>
            </a:r>
          </a:p>
        </p:txBody>
      </p:sp>
      <p:sp>
        <p:nvSpPr>
          <p:cNvPr id="6" name="TextBox 5"/>
          <p:cNvSpPr txBox="1"/>
          <p:nvPr/>
        </p:nvSpPr>
        <p:spPr>
          <a:xfrm>
            <a:off x="731520" y="2788920"/>
            <a:ext cx="1463040" cy="132588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Every commit: who, when, which files</a:t>
            </a:r>
          </a:p>
        </p:txBody>
      </p:sp>
      <p:sp>
        <p:nvSpPr>
          <p:cNvPr id="7" name="Right Arrow 6"/>
          <p:cNvSpPr/>
          <p:nvPr/>
        </p:nvSpPr>
        <p:spPr>
          <a:xfrm>
            <a:off x="2432304" y="2990088"/>
            <a:ext cx="365760" cy="329184"/>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852928" y="2103120"/>
            <a:ext cx="1828800" cy="2103120"/>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035808" y="2286000"/>
            <a:ext cx="1463040" cy="411480"/>
          </a:xfrm>
          <a:prstGeom prst="rect">
            <a:avLst/>
          </a:prstGeom>
          <a:noFill/>
        </p:spPr>
        <p:txBody>
          <a:bodyPr wrap="square" lIns="0" rIns="0" tIns="0" bIns="0" anchor="t">
            <a:spAutoFit/>
          </a:bodyPr>
          <a:lstStyle/>
          <a:p>
            <a:pPr algn="l">
              <a:spcAft>
                <a:spcPts val="0"/>
              </a:spcAft>
            </a:pPr>
            <a:r>
              <a:rPr sz="1900" b="1" i="0">
                <a:solidFill>
                  <a:srgbClr val="1C1917"/>
                </a:solidFill>
                <a:latin typeface="Arial"/>
              </a:rPr>
              <a:t>Analysis</a:t>
            </a:r>
          </a:p>
        </p:txBody>
      </p:sp>
      <p:sp>
        <p:nvSpPr>
          <p:cNvPr id="10" name="TextBox 9"/>
          <p:cNvSpPr txBox="1"/>
          <p:nvPr/>
        </p:nvSpPr>
        <p:spPr>
          <a:xfrm>
            <a:off x="3035808" y="2788920"/>
            <a:ext cx="1463040" cy="132588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Who knows what, and what's lost. Pure math, no AI.</a:t>
            </a:r>
          </a:p>
        </p:txBody>
      </p:sp>
      <p:sp>
        <p:nvSpPr>
          <p:cNvPr id="11" name="Right Arrow 10"/>
          <p:cNvSpPr/>
          <p:nvPr/>
        </p:nvSpPr>
        <p:spPr>
          <a:xfrm>
            <a:off x="4736592" y="2990088"/>
            <a:ext cx="365760" cy="329184"/>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157216" y="2103120"/>
            <a:ext cx="1828800" cy="2103120"/>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340096" y="2286000"/>
            <a:ext cx="1463040" cy="411480"/>
          </a:xfrm>
          <a:prstGeom prst="rect">
            <a:avLst/>
          </a:prstGeom>
          <a:noFill/>
        </p:spPr>
        <p:txBody>
          <a:bodyPr wrap="square" lIns="0" rIns="0" tIns="0" bIns="0" anchor="t">
            <a:spAutoFit/>
          </a:bodyPr>
          <a:lstStyle/>
          <a:p>
            <a:pPr algn="l">
              <a:spcAft>
                <a:spcPts val="0"/>
              </a:spcAft>
            </a:pPr>
            <a:r>
              <a:rPr sz="1900" b="1" i="0">
                <a:solidFill>
                  <a:srgbClr val="1C1917"/>
                </a:solidFill>
                <a:latin typeface="Arial"/>
              </a:rPr>
              <a:t>AI explains</a:t>
            </a:r>
          </a:p>
        </p:txBody>
      </p:sp>
      <p:sp>
        <p:nvSpPr>
          <p:cNvPr id="14" name="TextBox 13"/>
          <p:cNvSpPr txBox="1"/>
          <p:nvPr/>
        </p:nvSpPr>
        <p:spPr>
          <a:xfrm>
            <a:off x="5340096" y="2788920"/>
            <a:ext cx="1463040" cy="132588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A local model writes notes on the risky code</a:t>
            </a:r>
          </a:p>
        </p:txBody>
      </p:sp>
      <p:sp>
        <p:nvSpPr>
          <p:cNvPr id="15" name="Right Arrow 14"/>
          <p:cNvSpPr/>
          <p:nvPr/>
        </p:nvSpPr>
        <p:spPr>
          <a:xfrm>
            <a:off x="7040879" y="2990088"/>
            <a:ext cx="365760" cy="329184"/>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7461504" y="2103120"/>
            <a:ext cx="1828800" cy="2103120"/>
          </a:xfrm>
          <a:prstGeom prst="roundRect">
            <a:avLst>
              <a:gd name="adj" fmla="val 8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644383" y="2286000"/>
            <a:ext cx="1463040" cy="411480"/>
          </a:xfrm>
          <a:prstGeom prst="rect">
            <a:avLst/>
          </a:prstGeom>
          <a:noFill/>
        </p:spPr>
        <p:txBody>
          <a:bodyPr wrap="square" lIns="0" rIns="0" tIns="0" bIns="0" anchor="t">
            <a:spAutoFit/>
          </a:bodyPr>
          <a:lstStyle/>
          <a:p>
            <a:pPr algn="l">
              <a:spcAft>
                <a:spcPts val="0"/>
              </a:spcAft>
            </a:pPr>
            <a:r>
              <a:rPr sz="1900" b="1" i="0">
                <a:solidFill>
                  <a:srgbClr val="1C1917"/>
                </a:solidFill>
                <a:latin typeface="Arial"/>
              </a:rPr>
              <a:t>Checker</a:t>
            </a:r>
          </a:p>
        </p:txBody>
      </p:sp>
      <p:sp>
        <p:nvSpPr>
          <p:cNvPr id="18" name="TextBox 17"/>
          <p:cNvSpPr txBox="1"/>
          <p:nvPr/>
        </p:nvSpPr>
        <p:spPr>
          <a:xfrm>
            <a:off x="7644383" y="2788920"/>
            <a:ext cx="1463040" cy="132588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Drops every claim it can't trace to evidence</a:t>
            </a:r>
          </a:p>
        </p:txBody>
      </p:sp>
      <p:sp>
        <p:nvSpPr>
          <p:cNvPr id="19" name="Right Arrow 18"/>
          <p:cNvSpPr/>
          <p:nvPr/>
        </p:nvSpPr>
        <p:spPr>
          <a:xfrm>
            <a:off x="9345168" y="2990088"/>
            <a:ext cx="365760" cy="329184"/>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9765792" y="2103120"/>
            <a:ext cx="1828800" cy="2103120"/>
          </a:xfrm>
          <a:prstGeom prst="roundRect">
            <a:avLst>
              <a:gd name="adj" fmla="val 8000"/>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948672" y="2286000"/>
            <a:ext cx="1463040" cy="411480"/>
          </a:xfrm>
          <a:prstGeom prst="rect">
            <a:avLst/>
          </a:prstGeom>
          <a:noFill/>
        </p:spPr>
        <p:txBody>
          <a:bodyPr wrap="square" lIns="0" rIns="0" tIns="0" bIns="0" anchor="t">
            <a:spAutoFit/>
          </a:bodyPr>
          <a:lstStyle/>
          <a:p>
            <a:pPr algn="l">
              <a:spcAft>
                <a:spcPts val="0"/>
              </a:spcAft>
            </a:pPr>
            <a:r>
              <a:rPr sz="1900" b="1" i="0">
                <a:solidFill>
                  <a:srgbClr val="FAFAF9"/>
                </a:solidFill>
                <a:latin typeface="Arial"/>
              </a:rPr>
              <a:t>KT plan</a:t>
            </a:r>
          </a:p>
        </p:txBody>
      </p:sp>
      <p:sp>
        <p:nvSpPr>
          <p:cNvPr id="22" name="TextBox 21"/>
          <p:cNvSpPr txBox="1"/>
          <p:nvPr/>
        </p:nvSpPr>
        <p:spPr>
          <a:xfrm>
            <a:off x="9948672" y="2788920"/>
            <a:ext cx="1463040" cy="1325880"/>
          </a:xfrm>
          <a:prstGeom prst="rect">
            <a:avLst/>
          </a:prstGeom>
          <a:noFill/>
        </p:spPr>
        <p:txBody>
          <a:bodyPr wrap="square" lIns="0" rIns="0" tIns="0" bIns="0" anchor="t">
            <a:spAutoFit/>
          </a:bodyPr>
          <a:lstStyle/>
          <a:p>
            <a:pPr algn="l">
              <a:spcAft>
                <a:spcPts val="0"/>
              </a:spcAft>
            </a:pPr>
            <a:r>
              <a:rPr sz="1400" b="0" i="0">
                <a:solidFill>
                  <a:srgbClr val="FAFAF9"/>
                </a:solidFill>
                <a:latin typeface="Calibri"/>
              </a:rPr>
              <a:t>Cited plan + web page</a:t>
            </a:r>
          </a:p>
        </p:txBody>
      </p:sp>
      <p:sp>
        <p:nvSpPr>
          <p:cNvPr id="23" name="TextBox 22"/>
          <p:cNvSpPr txBox="1"/>
          <p:nvPr/>
        </p:nvSpPr>
        <p:spPr>
          <a:xfrm>
            <a:off x="548640" y="4663440"/>
            <a:ext cx="10972800" cy="45720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Why split it this way?</a:t>
            </a:r>
          </a:p>
        </p:txBody>
      </p:sp>
      <p:sp>
        <p:nvSpPr>
          <p:cNvPr id="24" name="TextBox 23"/>
          <p:cNvSpPr txBox="1"/>
          <p:nvPr/>
        </p:nvSpPr>
        <p:spPr>
          <a:xfrm>
            <a:off x="548640" y="5120640"/>
            <a:ext cx="10972800" cy="1097280"/>
          </a:xfrm>
          <a:prstGeom prst="rect">
            <a:avLst/>
          </a:prstGeom>
          <a:noFill/>
        </p:spPr>
        <p:txBody>
          <a:bodyPr wrap="square" lIns="0" rIns="0" tIns="0" bIns="0" anchor="t">
            <a:spAutoFit/>
          </a:bodyPr>
          <a:lstStyle/>
          <a:p>
            <a:pPr algn="l">
              <a:spcAft>
                <a:spcPts val="0"/>
              </a:spcAft>
            </a:pPr>
            <a:r>
              <a:rPr sz="1600" b="0" i="0">
                <a:solidFill>
                  <a:srgbClr val="57534E"/>
                </a:solidFill>
                <a:latin typeface="Calibri"/>
              </a:rPr>
              <a:t>Deciding what matters is done by reproducible math, so the risk numbers can't be hallucinated. The AI only does what it's good at: explaining. And a plain-code checker keeps it honest.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PART 1 · FINDING THE EXPERTS</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Git history is a diary of who did what</a:t>
            </a:r>
          </a:p>
        </p:txBody>
      </p:sp>
      <p:sp>
        <p:nvSpPr>
          <p:cNvPr id="4" name="Rounded Rectangle 3"/>
          <p:cNvSpPr/>
          <p:nvPr/>
        </p:nvSpPr>
        <p:spPr>
          <a:xfrm>
            <a:off x="548640" y="1737360"/>
            <a:ext cx="5486400" cy="4297680"/>
          </a:xfrm>
          <a:prstGeom prst="roundRect">
            <a:avLst>
              <a:gd name="adj" fmla="val 8000"/>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965960"/>
            <a:ext cx="4937760" cy="365760"/>
          </a:xfrm>
          <a:prstGeom prst="rect">
            <a:avLst/>
          </a:prstGeom>
          <a:noFill/>
        </p:spPr>
        <p:txBody>
          <a:bodyPr wrap="square" lIns="0" rIns="0" tIns="0" bIns="0" anchor="t">
            <a:spAutoFit/>
          </a:bodyPr>
          <a:lstStyle/>
          <a:p>
            <a:pPr algn="l">
              <a:spcAft>
                <a:spcPts val="0"/>
              </a:spcAft>
            </a:pPr>
            <a:r>
              <a:rPr sz="1500" b="0" i="0">
                <a:solidFill>
                  <a:srgbClr val="A8A29E"/>
                </a:solidFill>
                <a:latin typeface="Calibri"/>
              </a:rPr>
              <a:t>What Git remembers (simplified example)</a:t>
            </a:r>
          </a:p>
        </p:txBody>
      </p:sp>
      <p:sp>
        <p:nvSpPr>
          <p:cNvPr id="6" name="TextBox 5"/>
          <p:cNvSpPr txBox="1"/>
          <p:nvPr/>
        </p:nvSpPr>
        <p:spPr>
          <a:xfrm>
            <a:off x="868680" y="2468880"/>
            <a:ext cx="1463040" cy="365760"/>
          </a:xfrm>
          <a:prstGeom prst="rect">
            <a:avLst/>
          </a:prstGeom>
          <a:noFill/>
        </p:spPr>
        <p:txBody>
          <a:bodyPr wrap="square" lIns="0" rIns="0" tIns="0" bIns="0" anchor="t">
            <a:spAutoFit/>
          </a:bodyPr>
          <a:lstStyle/>
          <a:p>
            <a:pPr algn="l">
              <a:spcAft>
                <a:spcPts val="0"/>
              </a:spcAft>
            </a:pPr>
            <a:r>
              <a:rPr sz="1400" b="0" i="0">
                <a:solidFill>
                  <a:srgbClr val="A8A29E"/>
                </a:solidFill>
                <a:latin typeface="Courier New"/>
              </a:rPr>
              <a:t>2013-03-22</a:t>
            </a:r>
          </a:p>
        </p:txBody>
      </p:sp>
      <p:sp>
        <p:nvSpPr>
          <p:cNvPr id="7" name="TextBox 6"/>
          <p:cNvSpPr txBox="1"/>
          <p:nvPr/>
        </p:nvSpPr>
        <p:spPr>
          <a:xfrm>
            <a:off x="2377440" y="2468880"/>
            <a:ext cx="1280160" cy="365760"/>
          </a:xfrm>
          <a:prstGeom prst="rect">
            <a:avLst/>
          </a:prstGeom>
          <a:noFill/>
        </p:spPr>
        <p:txBody>
          <a:bodyPr wrap="square" lIns="0" rIns="0" tIns="0" bIns="0" anchor="t">
            <a:spAutoFit/>
          </a:bodyPr>
          <a:lstStyle/>
          <a:p>
            <a:pPr algn="l">
              <a:spcAft>
                <a:spcPts val="0"/>
              </a:spcAft>
            </a:pPr>
            <a:r>
              <a:rPr sz="1500" b="1" i="0">
                <a:solidFill>
                  <a:srgbClr val="C2410C"/>
                </a:solidFill>
                <a:latin typeface="Calibri"/>
              </a:rPr>
              <a:t>Kenneth</a:t>
            </a:r>
          </a:p>
        </p:txBody>
      </p:sp>
      <p:sp>
        <p:nvSpPr>
          <p:cNvPr id="8" name="TextBox 7"/>
          <p:cNvSpPr txBox="1"/>
          <p:nvPr/>
        </p:nvSpPr>
        <p:spPr>
          <a:xfrm>
            <a:off x="3657600" y="2468880"/>
            <a:ext cx="2194560" cy="365760"/>
          </a:xfrm>
          <a:prstGeom prst="rect">
            <a:avLst/>
          </a:prstGeom>
          <a:noFill/>
        </p:spPr>
        <p:txBody>
          <a:bodyPr wrap="square" lIns="0" rIns="0" tIns="0" bIns="0" anchor="t">
            <a:spAutoFit/>
          </a:bodyPr>
          <a:lstStyle/>
          <a:p>
            <a:pPr algn="l">
              <a:spcAft>
                <a:spcPts val="0"/>
              </a:spcAft>
            </a:pPr>
            <a:r>
              <a:rPr sz="1400" b="0" i="0">
                <a:solidFill>
                  <a:srgbClr val="FAFAF9"/>
                </a:solidFill>
                <a:latin typeface="Courier New"/>
              </a:rPr>
              <a:t>models.py, utils.py</a:t>
            </a:r>
          </a:p>
        </p:txBody>
      </p:sp>
      <p:sp>
        <p:nvSpPr>
          <p:cNvPr id="9" name="TextBox 8"/>
          <p:cNvSpPr txBox="1"/>
          <p:nvPr/>
        </p:nvSpPr>
        <p:spPr>
          <a:xfrm>
            <a:off x="868680" y="3017520"/>
            <a:ext cx="1463040" cy="365760"/>
          </a:xfrm>
          <a:prstGeom prst="rect">
            <a:avLst/>
          </a:prstGeom>
          <a:noFill/>
        </p:spPr>
        <p:txBody>
          <a:bodyPr wrap="square" lIns="0" rIns="0" tIns="0" bIns="0" anchor="t">
            <a:spAutoFit/>
          </a:bodyPr>
          <a:lstStyle/>
          <a:p>
            <a:pPr algn="l">
              <a:spcAft>
                <a:spcPts val="0"/>
              </a:spcAft>
            </a:pPr>
            <a:r>
              <a:rPr sz="1400" b="0" i="0">
                <a:solidFill>
                  <a:srgbClr val="A8A29E"/>
                </a:solidFill>
                <a:latin typeface="Courier New"/>
              </a:rPr>
              <a:t>2014-01-31</a:t>
            </a:r>
          </a:p>
        </p:txBody>
      </p:sp>
      <p:sp>
        <p:nvSpPr>
          <p:cNvPr id="10" name="TextBox 9"/>
          <p:cNvSpPr txBox="1"/>
          <p:nvPr/>
        </p:nvSpPr>
        <p:spPr>
          <a:xfrm>
            <a:off x="2377440" y="3017520"/>
            <a:ext cx="1280160" cy="365760"/>
          </a:xfrm>
          <a:prstGeom prst="rect">
            <a:avLst/>
          </a:prstGeom>
          <a:noFill/>
        </p:spPr>
        <p:txBody>
          <a:bodyPr wrap="square" lIns="0" rIns="0" tIns="0" bIns="0" anchor="t">
            <a:spAutoFit/>
          </a:bodyPr>
          <a:lstStyle/>
          <a:p>
            <a:pPr algn="l">
              <a:spcAft>
                <a:spcPts val="0"/>
              </a:spcAft>
            </a:pPr>
            <a:r>
              <a:rPr sz="1500" b="1" i="0">
                <a:solidFill>
                  <a:srgbClr val="C2410C"/>
                </a:solidFill>
                <a:latin typeface="Calibri"/>
              </a:rPr>
              <a:t>Kenneth</a:t>
            </a:r>
          </a:p>
        </p:txBody>
      </p:sp>
      <p:sp>
        <p:nvSpPr>
          <p:cNvPr id="11" name="TextBox 10"/>
          <p:cNvSpPr txBox="1"/>
          <p:nvPr/>
        </p:nvSpPr>
        <p:spPr>
          <a:xfrm>
            <a:off x="3657600" y="3017520"/>
            <a:ext cx="2194560" cy="365760"/>
          </a:xfrm>
          <a:prstGeom prst="rect">
            <a:avLst/>
          </a:prstGeom>
          <a:noFill/>
        </p:spPr>
        <p:txBody>
          <a:bodyPr wrap="square" lIns="0" rIns="0" tIns="0" bIns="0" anchor="t">
            <a:spAutoFit/>
          </a:bodyPr>
          <a:lstStyle/>
          <a:p>
            <a:pPr algn="l">
              <a:spcAft>
                <a:spcPts val="0"/>
              </a:spcAft>
            </a:pPr>
            <a:r>
              <a:rPr sz="1400" b="0" i="0">
                <a:solidFill>
                  <a:srgbClr val="FAFAF9"/>
                </a:solidFill>
                <a:latin typeface="Courier New"/>
              </a:rPr>
              <a:t>models.py</a:t>
            </a:r>
          </a:p>
        </p:txBody>
      </p:sp>
      <p:sp>
        <p:nvSpPr>
          <p:cNvPr id="12" name="TextBox 11"/>
          <p:cNvSpPr txBox="1"/>
          <p:nvPr/>
        </p:nvSpPr>
        <p:spPr>
          <a:xfrm>
            <a:off x="868680" y="3566160"/>
            <a:ext cx="1463040" cy="365760"/>
          </a:xfrm>
          <a:prstGeom prst="rect">
            <a:avLst/>
          </a:prstGeom>
          <a:noFill/>
        </p:spPr>
        <p:txBody>
          <a:bodyPr wrap="square" lIns="0" rIns="0" tIns="0" bIns="0" anchor="t">
            <a:spAutoFit/>
          </a:bodyPr>
          <a:lstStyle/>
          <a:p>
            <a:pPr algn="l">
              <a:spcAft>
                <a:spcPts val="0"/>
              </a:spcAft>
            </a:pPr>
            <a:r>
              <a:rPr sz="1400" b="0" i="0">
                <a:solidFill>
                  <a:srgbClr val="A8A29E"/>
                </a:solidFill>
                <a:latin typeface="Courier New"/>
              </a:rPr>
              <a:t>2016-11-02</a:t>
            </a:r>
          </a:p>
        </p:txBody>
      </p:sp>
      <p:sp>
        <p:nvSpPr>
          <p:cNvPr id="13" name="TextBox 12"/>
          <p:cNvSpPr txBox="1"/>
          <p:nvPr/>
        </p:nvSpPr>
        <p:spPr>
          <a:xfrm>
            <a:off x="2377440" y="3566160"/>
            <a:ext cx="1280160" cy="365760"/>
          </a:xfrm>
          <a:prstGeom prst="rect">
            <a:avLst/>
          </a:prstGeom>
          <a:noFill/>
        </p:spPr>
        <p:txBody>
          <a:bodyPr wrap="square" lIns="0" rIns="0" tIns="0" bIns="0" anchor="t">
            <a:spAutoFit/>
          </a:bodyPr>
          <a:lstStyle/>
          <a:p>
            <a:pPr algn="l">
              <a:spcAft>
                <a:spcPts val="0"/>
              </a:spcAft>
            </a:pPr>
            <a:r>
              <a:rPr sz="1500" b="1" i="0">
                <a:solidFill>
                  <a:srgbClr val="C2410C"/>
                </a:solidFill>
                <a:latin typeface="Calibri"/>
              </a:rPr>
              <a:t>Cory</a:t>
            </a:r>
          </a:p>
        </p:txBody>
      </p:sp>
      <p:sp>
        <p:nvSpPr>
          <p:cNvPr id="14" name="TextBox 13"/>
          <p:cNvSpPr txBox="1"/>
          <p:nvPr/>
        </p:nvSpPr>
        <p:spPr>
          <a:xfrm>
            <a:off x="3657600" y="3566160"/>
            <a:ext cx="2194560" cy="365760"/>
          </a:xfrm>
          <a:prstGeom prst="rect">
            <a:avLst/>
          </a:prstGeom>
          <a:noFill/>
        </p:spPr>
        <p:txBody>
          <a:bodyPr wrap="square" lIns="0" rIns="0" tIns="0" bIns="0" anchor="t">
            <a:spAutoFit/>
          </a:bodyPr>
          <a:lstStyle/>
          <a:p>
            <a:pPr algn="l">
              <a:spcAft>
                <a:spcPts val="0"/>
              </a:spcAft>
            </a:pPr>
            <a:r>
              <a:rPr sz="1400" b="0" i="0">
                <a:solidFill>
                  <a:srgbClr val="FAFAF9"/>
                </a:solidFill>
                <a:latin typeface="Courier New"/>
              </a:rPr>
              <a:t>adapters.py</a:t>
            </a:r>
          </a:p>
        </p:txBody>
      </p:sp>
      <p:sp>
        <p:nvSpPr>
          <p:cNvPr id="15" name="TextBox 14"/>
          <p:cNvSpPr txBox="1"/>
          <p:nvPr/>
        </p:nvSpPr>
        <p:spPr>
          <a:xfrm>
            <a:off x="868680" y="4114800"/>
            <a:ext cx="1463040" cy="365760"/>
          </a:xfrm>
          <a:prstGeom prst="rect">
            <a:avLst/>
          </a:prstGeom>
          <a:noFill/>
        </p:spPr>
        <p:txBody>
          <a:bodyPr wrap="square" lIns="0" rIns="0" tIns="0" bIns="0" anchor="t">
            <a:spAutoFit/>
          </a:bodyPr>
          <a:lstStyle/>
          <a:p>
            <a:pPr algn="l">
              <a:spcAft>
                <a:spcPts val="0"/>
              </a:spcAft>
            </a:pPr>
            <a:r>
              <a:rPr sz="1400" b="0" i="0">
                <a:solidFill>
                  <a:srgbClr val="A8A29E"/>
                </a:solidFill>
                <a:latin typeface="Courier New"/>
              </a:rPr>
              <a:t>2021-06-14</a:t>
            </a:r>
          </a:p>
        </p:txBody>
      </p:sp>
      <p:sp>
        <p:nvSpPr>
          <p:cNvPr id="16" name="TextBox 15"/>
          <p:cNvSpPr txBox="1"/>
          <p:nvPr/>
        </p:nvSpPr>
        <p:spPr>
          <a:xfrm>
            <a:off x="2377440" y="4114800"/>
            <a:ext cx="1280160" cy="365760"/>
          </a:xfrm>
          <a:prstGeom prst="rect">
            <a:avLst/>
          </a:prstGeom>
          <a:noFill/>
        </p:spPr>
        <p:txBody>
          <a:bodyPr wrap="square" lIns="0" rIns="0" tIns="0" bIns="0" anchor="t">
            <a:spAutoFit/>
          </a:bodyPr>
          <a:lstStyle/>
          <a:p>
            <a:pPr algn="l">
              <a:spcAft>
                <a:spcPts val="0"/>
              </a:spcAft>
            </a:pPr>
            <a:r>
              <a:rPr sz="1500" b="1" i="0">
                <a:solidFill>
                  <a:srgbClr val="C2410C"/>
                </a:solidFill>
                <a:latin typeface="Calibri"/>
              </a:rPr>
              <a:t>Nate</a:t>
            </a:r>
          </a:p>
        </p:txBody>
      </p:sp>
      <p:sp>
        <p:nvSpPr>
          <p:cNvPr id="17" name="TextBox 16"/>
          <p:cNvSpPr txBox="1"/>
          <p:nvPr/>
        </p:nvSpPr>
        <p:spPr>
          <a:xfrm>
            <a:off x="3657600" y="4114800"/>
            <a:ext cx="2194560" cy="365760"/>
          </a:xfrm>
          <a:prstGeom prst="rect">
            <a:avLst/>
          </a:prstGeom>
          <a:noFill/>
        </p:spPr>
        <p:txBody>
          <a:bodyPr wrap="square" lIns="0" rIns="0" tIns="0" bIns="0" anchor="t">
            <a:spAutoFit/>
          </a:bodyPr>
          <a:lstStyle/>
          <a:p>
            <a:pPr algn="l">
              <a:spcAft>
                <a:spcPts val="0"/>
              </a:spcAft>
            </a:pPr>
            <a:r>
              <a:rPr sz="1400" b="0" i="0">
                <a:solidFill>
                  <a:srgbClr val="FAFAF9"/>
                </a:solidFill>
                <a:latin typeface="Courier New"/>
              </a:rPr>
              <a:t>sessions.py</a:t>
            </a:r>
          </a:p>
        </p:txBody>
      </p:sp>
      <p:sp>
        <p:nvSpPr>
          <p:cNvPr id="18" name="TextBox 17"/>
          <p:cNvSpPr txBox="1"/>
          <p:nvPr/>
        </p:nvSpPr>
        <p:spPr>
          <a:xfrm>
            <a:off x="868680" y="4663440"/>
            <a:ext cx="1463040" cy="365760"/>
          </a:xfrm>
          <a:prstGeom prst="rect">
            <a:avLst/>
          </a:prstGeom>
          <a:noFill/>
        </p:spPr>
        <p:txBody>
          <a:bodyPr wrap="square" lIns="0" rIns="0" tIns="0" bIns="0" anchor="t">
            <a:spAutoFit/>
          </a:bodyPr>
          <a:lstStyle/>
          <a:p>
            <a:pPr algn="l">
              <a:spcAft>
                <a:spcPts val="0"/>
              </a:spcAft>
            </a:pPr>
            <a:r>
              <a:rPr sz="1400" b="0" i="0">
                <a:solidFill>
                  <a:srgbClr val="A8A29E"/>
                </a:solidFill>
                <a:latin typeface="Courier New"/>
              </a:rPr>
              <a:t>2024-07-02</a:t>
            </a:r>
          </a:p>
        </p:txBody>
      </p:sp>
      <p:sp>
        <p:nvSpPr>
          <p:cNvPr id="19" name="TextBox 18"/>
          <p:cNvSpPr txBox="1"/>
          <p:nvPr/>
        </p:nvSpPr>
        <p:spPr>
          <a:xfrm>
            <a:off x="2377440" y="4663440"/>
            <a:ext cx="1280160" cy="365760"/>
          </a:xfrm>
          <a:prstGeom prst="rect">
            <a:avLst/>
          </a:prstGeom>
          <a:noFill/>
        </p:spPr>
        <p:txBody>
          <a:bodyPr wrap="square" lIns="0" rIns="0" tIns="0" bIns="0" anchor="t">
            <a:spAutoFit/>
          </a:bodyPr>
          <a:lstStyle/>
          <a:p>
            <a:pPr algn="l">
              <a:spcAft>
                <a:spcPts val="0"/>
              </a:spcAft>
            </a:pPr>
            <a:r>
              <a:rPr sz="1500" b="1" i="0">
                <a:solidFill>
                  <a:srgbClr val="A8A29E"/>
                </a:solidFill>
                <a:latin typeface="Calibri"/>
              </a:rPr>
              <a:t>dependabot</a:t>
            </a:r>
          </a:p>
        </p:txBody>
      </p:sp>
      <p:sp>
        <p:nvSpPr>
          <p:cNvPr id="20" name="TextBox 19"/>
          <p:cNvSpPr txBox="1"/>
          <p:nvPr/>
        </p:nvSpPr>
        <p:spPr>
          <a:xfrm>
            <a:off x="3657600" y="4663440"/>
            <a:ext cx="2194560" cy="365760"/>
          </a:xfrm>
          <a:prstGeom prst="rect">
            <a:avLst/>
          </a:prstGeom>
          <a:noFill/>
        </p:spPr>
        <p:txBody>
          <a:bodyPr wrap="square" lIns="0" rIns="0" tIns="0" bIns="0" anchor="t">
            <a:spAutoFit/>
          </a:bodyPr>
          <a:lstStyle/>
          <a:p>
            <a:pPr algn="l">
              <a:spcAft>
                <a:spcPts val="0"/>
              </a:spcAft>
            </a:pPr>
            <a:r>
              <a:rPr sz="1400" b="0" i="0">
                <a:solidFill>
                  <a:srgbClr val="A8A29E"/>
                </a:solidFill>
                <a:latin typeface="Courier New"/>
              </a:rPr>
              <a:t>48 files · ignored</a:t>
            </a:r>
          </a:p>
        </p:txBody>
      </p:sp>
      <p:sp>
        <p:nvSpPr>
          <p:cNvPr id="21" name="TextBox 20"/>
          <p:cNvSpPr txBox="1"/>
          <p:nvPr/>
        </p:nvSpPr>
        <p:spPr>
          <a:xfrm>
            <a:off x="868680" y="5212080"/>
            <a:ext cx="1463040" cy="365760"/>
          </a:xfrm>
          <a:prstGeom prst="rect">
            <a:avLst/>
          </a:prstGeom>
          <a:noFill/>
        </p:spPr>
        <p:txBody>
          <a:bodyPr wrap="square" lIns="0" rIns="0" tIns="0" bIns="0" anchor="t">
            <a:spAutoFit/>
          </a:bodyPr>
          <a:lstStyle/>
          <a:p>
            <a:pPr algn="l">
              <a:spcAft>
                <a:spcPts val="0"/>
              </a:spcAft>
            </a:pPr>
            <a:r>
              <a:rPr sz="1400" b="0" i="0">
                <a:solidFill>
                  <a:srgbClr val="A8A29E"/>
                </a:solidFill>
                <a:latin typeface="Courier New"/>
              </a:rPr>
              <a:t>2025-09-30</a:t>
            </a:r>
          </a:p>
        </p:txBody>
      </p:sp>
      <p:sp>
        <p:nvSpPr>
          <p:cNvPr id="22" name="TextBox 21"/>
          <p:cNvSpPr txBox="1"/>
          <p:nvPr/>
        </p:nvSpPr>
        <p:spPr>
          <a:xfrm>
            <a:off x="2377440" y="5212080"/>
            <a:ext cx="1280160" cy="365760"/>
          </a:xfrm>
          <a:prstGeom prst="rect">
            <a:avLst/>
          </a:prstGeom>
          <a:noFill/>
        </p:spPr>
        <p:txBody>
          <a:bodyPr wrap="square" lIns="0" rIns="0" tIns="0" bIns="0" anchor="t">
            <a:spAutoFit/>
          </a:bodyPr>
          <a:lstStyle/>
          <a:p>
            <a:pPr algn="l">
              <a:spcAft>
                <a:spcPts val="0"/>
              </a:spcAft>
            </a:pPr>
            <a:r>
              <a:rPr sz="1500" b="1" i="0">
                <a:solidFill>
                  <a:srgbClr val="C2410C"/>
                </a:solidFill>
                <a:latin typeface="Calibri"/>
              </a:rPr>
              <a:t>Nate</a:t>
            </a:r>
          </a:p>
        </p:txBody>
      </p:sp>
      <p:sp>
        <p:nvSpPr>
          <p:cNvPr id="23" name="TextBox 22"/>
          <p:cNvSpPr txBox="1"/>
          <p:nvPr/>
        </p:nvSpPr>
        <p:spPr>
          <a:xfrm>
            <a:off x="3657600" y="5212080"/>
            <a:ext cx="2194560" cy="365760"/>
          </a:xfrm>
          <a:prstGeom prst="rect">
            <a:avLst/>
          </a:prstGeom>
          <a:noFill/>
        </p:spPr>
        <p:txBody>
          <a:bodyPr wrap="square" lIns="0" rIns="0" tIns="0" bIns="0" anchor="t">
            <a:spAutoFit/>
          </a:bodyPr>
          <a:lstStyle/>
          <a:p>
            <a:pPr algn="l">
              <a:spcAft>
                <a:spcPts val="0"/>
              </a:spcAft>
            </a:pPr>
            <a:r>
              <a:rPr sz="1400" b="0" i="0">
                <a:solidFill>
                  <a:srgbClr val="FAFAF9"/>
                </a:solidFill>
                <a:latin typeface="Courier New"/>
              </a:rPr>
              <a:t>models.py</a:t>
            </a:r>
          </a:p>
        </p:txBody>
      </p:sp>
      <p:sp>
        <p:nvSpPr>
          <p:cNvPr id="24" name="TextBox 23"/>
          <p:cNvSpPr txBox="1"/>
          <p:nvPr/>
        </p:nvSpPr>
        <p:spPr>
          <a:xfrm>
            <a:off x="6492240" y="1783080"/>
            <a:ext cx="512064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First, we clean the diary</a:t>
            </a:r>
          </a:p>
        </p:txBody>
      </p:sp>
      <p:sp>
        <p:nvSpPr>
          <p:cNvPr id="25" name="Oval 24"/>
          <p:cNvSpPr/>
          <p:nvPr/>
        </p:nvSpPr>
        <p:spPr>
          <a:xfrm>
            <a:off x="6492240" y="2423160"/>
            <a:ext cx="411480" cy="41148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1</a:t>
            </a:r>
          </a:p>
        </p:txBody>
      </p:sp>
      <p:sp>
        <p:nvSpPr>
          <p:cNvPr id="26" name="TextBox 25"/>
          <p:cNvSpPr txBox="1"/>
          <p:nvPr/>
        </p:nvSpPr>
        <p:spPr>
          <a:xfrm>
            <a:off x="7086600" y="2377440"/>
            <a:ext cx="4572000" cy="365760"/>
          </a:xfrm>
          <a:prstGeom prst="rect">
            <a:avLst/>
          </a:prstGeom>
          <a:noFill/>
        </p:spPr>
        <p:txBody>
          <a:bodyPr wrap="square" lIns="0" rIns="0" tIns="0" bIns="0" anchor="t">
            <a:spAutoFit/>
          </a:bodyPr>
          <a:lstStyle/>
          <a:p>
            <a:pPr algn="l">
              <a:spcAft>
                <a:spcPts val="0"/>
              </a:spcAft>
            </a:pPr>
            <a:r>
              <a:rPr sz="1700" b="1" i="0">
                <a:solidFill>
                  <a:srgbClr val="1C1917"/>
                </a:solidFill>
                <a:latin typeface="Calibri"/>
              </a:rPr>
              <a:t>Bots don't count</a:t>
            </a:r>
          </a:p>
        </p:txBody>
      </p:sp>
      <p:sp>
        <p:nvSpPr>
          <p:cNvPr id="27" name="TextBox 26"/>
          <p:cNvSpPr txBox="1"/>
          <p:nvPr/>
        </p:nvSpPr>
        <p:spPr>
          <a:xfrm>
            <a:off x="7086600" y="2724912"/>
            <a:ext cx="4572000" cy="50292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dependabot and friends hold no knowledge.</a:t>
            </a:r>
          </a:p>
        </p:txBody>
      </p:sp>
      <p:sp>
        <p:nvSpPr>
          <p:cNvPr id="28" name="Oval 27"/>
          <p:cNvSpPr/>
          <p:nvPr/>
        </p:nvSpPr>
        <p:spPr>
          <a:xfrm>
            <a:off x="6492240" y="3383280"/>
            <a:ext cx="411480" cy="41148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2</a:t>
            </a:r>
          </a:p>
        </p:txBody>
      </p:sp>
      <p:sp>
        <p:nvSpPr>
          <p:cNvPr id="29" name="TextBox 28"/>
          <p:cNvSpPr txBox="1"/>
          <p:nvPr/>
        </p:nvSpPr>
        <p:spPr>
          <a:xfrm>
            <a:off x="7086600" y="3337560"/>
            <a:ext cx="4572000" cy="365760"/>
          </a:xfrm>
          <a:prstGeom prst="rect">
            <a:avLst/>
          </a:prstGeom>
          <a:noFill/>
        </p:spPr>
        <p:txBody>
          <a:bodyPr wrap="square" lIns="0" rIns="0" tIns="0" bIns="0" anchor="t">
            <a:spAutoFit/>
          </a:bodyPr>
          <a:lstStyle/>
          <a:p>
            <a:pPr algn="l">
              <a:spcAft>
                <a:spcPts val="0"/>
              </a:spcAft>
            </a:pPr>
            <a:r>
              <a:rPr sz="1700" b="1" i="0">
                <a:solidFill>
                  <a:srgbClr val="1C1917"/>
                </a:solidFill>
                <a:latin typeface="Calibri"/>
              </a:rPr>
              <a:t>Mass changes don't count</a:t>
            </a:r>
          </a:p>
        </p:txBody>
      </p:sp>
      <p:sp>
        <p:nvSpPr>
          <p:cNvPr id="30" name="TextBox 29"/>
          <p:cNvSpPr txBox="1"/>
          <p:nvPr/>
        </p:nvSpPr>
        <p:spPr>
          <a:xfrm>
            <a:off x="7086600" y="3685032"/>
            <a:ext cx="4572000" cy="50292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A commit touching 100+ files is usually a reformat, not expertise.</a:t>
            </a:r>
          </a:p>
        </p:txBody>
      </p:sp>
      <p:sp>
        <p:nvSpPr>
          <p:cNvPr id="31" name="Oval 30"/>
          <p:cNvSpPr/>
          <p:nvPr/>
        </p:nvSpPr>
        <p:spPr>
          <a:xfrm>
            <a:off x="6492240" y="4343400"/>
            <a:ext cx="411480" cy="41148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3</a:t>
            </a:r>
          </a:p>
        </p:txBody>
      </p:sp>
      <p:sp>
        <p:nvSpPr>
          <p:cNvPr id="32" name="TextBox 31"/>
          <p:cNvSpPr txBox="1"/>
          <p:nvPr/>
        </p:nvSpPr>
        <p:spPr>
          <a:xfrm>
            <a:off x="7086600" y="4297680"/>
            <a:ext cx="4572000" cy="365760"/>
          </a:xfrm>
          <a:prstGeom prst="rect">
            <a:avLst/>
          </a:prstGeom>
          <a:noFill/>
        </p:spPr>
        <p:txBody>
          <a:bodyPr wrap="square" lIns="0" rIns="0" tIns="0" bIns="0" anchor="t">
            <a:spAutoFit/>
          </a:bodyPr>
          <a:lstStyle/>
          <a:p>
            <a:pPr algn="l">
              <a:spcAft>
                <a:spcPts val="0"/>
              </a:spcAft>
            </a:pPr>
            <a:r>
              <a:rPr sz="1700" b="1" i="0">
                <a:solidFill>
                  <a:srgbClr val="1C1917"/>
                </a:solidFill>
                <a:latin typeface="Calibri"/>
              </a:rPr>
              <a:t>Renamed files keep their history</a:t>
            </a:r>
          </a:p>
        </p:txBody>
      </p:sp>
      <p:sp>
        <p:nvSpPr>
          <p:cNvPr id="33" name="TextBox 32"/>
          <p:cNvSpPr txBox="1"/>
          <p:nvPr/>
        </p:nvSpPr>
        <p:spPr>
          <a:xfrm>
            <a:off x="7086600" y="4645152"/>
            <a:ext cx="4572000" cy="50292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Moving a file doesn't erase who wrote it.</a:t>
            </a:r>
          </a:p>
        </p:txBody>
      </p:sp>
      <p:sp>
        <p:nvSpPr>
          <p:cNvPr id="34" name="Oval 33"/>
          <p:cNvSpPr/>
          <p:nvPr/>
        </p:nvSpPr>
        <p:spPr>
          <a:xfrm>
            <a:off x="6492240" y="5303520"/>
            <a:ext cx="411480" cy="41148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4</a:t>
            </a:r>
          </a:p>
        </p:txBody>
      </p:sp>
      <p:sp>
        <p:nvSpPr>
          <p:cNvPr id="35" name="TextBox 34"/>
          <p:cNvSpPr txBox="1"/>
          <p:nvPr/>
        </p:nvSpPr>
        <p:spPr>
          <a:xfrm>
            <a:off x="7086600" y="5257800"/>
            <a:ext cx="4572000" cy="365760"/>
          </a:xfrm>
          <a:prstGeom prst="rect">
            <a:avLst/>
          </a:prstGeom>
          <a:noFill/>
        </p:spPr>
        <p:txBody>
          <a:bodyPr wrap="square" lIns="0" rIns="0" tIns="0" bIns="0" anchor="t">
            <a:spAutoFit/>
          </a:bodyPr>
          <a:lstStyle/>
          <a:p>
            <a:pPr algn="l">
              <a:spcAft>
                <a:spcPts val="0"/>
              </a:spcAft>
            </a:pPr>
            <a:r>
              <a:rPr sz="1700" b="1" i="0">
                <a:solidFill>
                  <a:srgbClr val="1C1917"/>
                </a:solidFill>
                <a:latin typeface="Calibri"/>
              </a:rPr>
              <a:t>One person, many emails</a:t>
            </a:r>
          </a:p>
        </p:txBody>
      </p:sp>
      <p:sp>
        <p:nvSpPr>
          <p:cNvPr id="36" name="TextBox 35"/>
          <p:cNvSpPr txBox="1"/>
          <p:nvPr/>
        </p:nvSpPr>
        <p:spPr>
          <a:xfrm>
            <a:off x="7086600" y="5605272"/>
            <a:ext cx="4572000" cy="50292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“Jane Doe” at work and at home is one developer.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PART 1 · FINDING THE EXPERTS</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Who knows a file? Three signals</a:t>
            </a:r>
          </a:p>
        </p:txBody>
      </p:sp>
      <p:sp>
        <p:nvSpPr>
          <p:cNvPr id="4" name="Rounded Rectangle 3"/>
          <p:cNvSpPr/>
          <p:nvPr/>
        </p:nvSpPr>
        <p:spPr>
          <a:xfrm>
            <a:off x="548640" y="1737360"/>
            <a:ext cx="3566160" cy="274320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2011680"/>
            <a:ext cx="548640" cy="548640"/>
          </a:xfrm>
          <a:prstGeom prst="ellipse">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5803D"/>
                </a:solidFill>
                <a:latin typeface="Arial"/>
              </a:rPr>
              <a:t>+</a:t>
            </a:r>
          </a:p>
        </p:txBody>
      </p:sp>
      <p:sp>
        <p:nvSpPr>
          <p:cNvPr id="6" name="TextBox 5"/>
          <p:cNvSpPr txBox="1"/>
          <p:nvPr/>
        </p:nvSpPr>
        <p:spPr>
          <a:xfrm>
            <a:off x="868680" y="2743200"/>
            <a:ext cx="292608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Created it</a:t>
            </a:r>
          </a:p>
        </p:txBody>
      </p:sp>
      <p:sp>
        <p:nvSpPr>
          <p:cNvPr id="7" name="TextBox 6"/>
          <p:cNvSpPr txBox="1"/>
          <p:nvPr/>
        </p:nvSpPr>
        <p:spPr>
          <a:xfrm>
            <a:off x="868680" y="3154680"/>
            <a:ext cx="2926080" cy="365760"/>
          </a:xfrm>
          <a:prstGeom prst="rect">
            <a:avLst/>
          </a:prstGeom>
          <a:noFill/>
        </p:spPr>
        <p:txBody>
          <a:bodyPr wrap="square" lIns="0" rIns="0" tIns="0" bIns="0" anchor="t">
            <a:spAutoFit/>
          </a:bodyPr>
          <a:lstStyle/>
          <a:p>
            <a:pPr algn="l">
              <a:spcAft>
                <a:spcPts val="0"/>
              </a:spcAft>
            </a:pPr>
            <a:r>
              <a:rPr sz="1500" b="1" i="0">
                <a:solidFill>
                  <a:srgbClr val="15803D"/>
                </a:solidFill>
                <a:latin typeface="Calibri"/>
              </a:rPr>
              <a:t>Big boost</a:t>
            </a:r>
          </a:p>
        </p:txBody>
      </p:sp>
      <p:sp>
        <p:nvSpPr>
          <p:cNvPr id="8" name="TextBox 7"/>
          <p:cNvSpPr txBox="1"/>
          <p:nvPr/>
        </p:nvSpPr>
        <p:spPr>
          <a:xfrm>
            <a:off x="868680" y="3566160"/>
            <a:ext cx="2926080" cy="82296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The creator made the original design decisions.</a:t>
            </a:r>
          </a:p>
        </p:txBody>
      </p:sp>
      <p:sp>
        <p:nvSpPr>
          <p:cNvPr id="9" name="Rounded Rectangle 8"/>
          <p:cNvSpPr/>
          <p:nvPr/>
        </p:nvSpPr>
        <p:spPr>
          <a:xfrm>
            <a:off x="4297679" y="1737360"/>
            <a:ext cx="3566160" cy="274320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617719" y="2011680"/>
            <a:ext cx="548640" cy="548640"/>
          </a:xfrm>
          <a:prstGeom prst="ellipse">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5803D"/>
                </a:solidFill>
                <a:latin typeface="Arial"/>
              </a:rPr>
              <a:t>+</a:t>
            </a:r>
          </a:p>
        </p:txBody>
      </p:sp>
      <p:sp>
        <p:nvSpPr>
          <p:cNvPr id="11" name="TextBox 10"/>
          <p:cNvSpPr txBox="1"/>
          <p:nvPr/>
        </p:nvSpPr>
        <p:spPr>
          <a:xfrm>
            <a:off x="4617719" y="2743200"/>
            <a:ext cx="292608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Changed it often</a:t>
            </a:r>
          </a:p>
        </p:txBody>
      </p:sp>
      <p:sp>
        <p:nvSpPr>
          <p:cNvPr id="12" name="TextBox 11"/>
          <p:cNvSpPr txBox="1"/>
          <p:nvPr/>
        </p:nvSpPr>
        <p:spPr>
          <a:xfrm>
            <a:off x="4617719" y="3154680"/>
            <a:ext cx="2926080" cy="365760"/>
          </a:xfrm>
          <a:prstGeom prst="rect">
            <a:avLst/>
          </a:prstGeom>
          <a:noFill/>
        </p:spPr>
        <p:txBody>
          <a:bodyPr wrap="square" lIns="0" rIns="0" tIns="0" bIns="0" anchor="t">
            <a:spAutoFit/>
          </a:bodyPr>
          <a:lstStyle/>
          <a:p>
            <a:pPr algn="l">
              <a:spcAft>
                <a:spcPts val="0"/>
              </a:spcAft>
            </a:pPr>
            <a:r>
              <a:rPr sz="1500" b="1" i="0">
                <a:solidFill>
                  <a:srgbClr val="15803D"/>
                </a:solidFill>
                <a:latin typeface="Calibri"/>
              </a:rPr>
              <a:t>Small boost per change</a:t>
            </a:r>
          </a:p>
        </p:txBody>
      </p:sp>
      <p:sp>
        <p:nvSpPr>
          <p:cNvPr id="13" name="TextBox 12"/>
          <p:cNvSpPr txBox="1"/>
          <p:nvPr/>
        </p:nvSpPr>
        <p:spPr>
          <a:xfrm>
            <a:off x="4617719" y="3566160"/>
            <a:ext cx="2926080" cy="82296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Every change forces you to reload the file's logic into your head.</a:t>
            </a:r>
          </a:p>
        </p:txBody>
      </p:sp>
      <p:sp>
        <p:nvSpPr>
          <p:cNvPr id="14" name="Rounded Rectangle 13"/>
          <p:cNvSpPr/>
          <p:nvPr/>
        </p:nvSpPr>
        <p:spPr>
          <a:xfrm>
            <a:off x="8046719" y="1737360"/>
            <a:ext cx="3566160" cy="274320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66759" y="2011680"/>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B91C1C"/>
                </a:solidFill>
                <a:latin typeface="Arial"/>
              </a:rPr>
              <a:t>−</a:t>
            </a:r>
          </a:p>
        </p:txBody>
      </p:sp>
      <p:sp>
        <p:nvSpPr>
          <p:cNvPr id="16" name="TextBox 15"/>
          <p:cNvSpPr txBox="1"/>
          <p:nvPr/>
        </p:nvSpPr>
        <p:spPr>
          <a:xfrm>
            <a:off x="8366759" y="2743200"/>
            <a:ext cx="292608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Others changed it since</a:t>
            </a:r>
          </a:p>
        </p:txBody>
      </p:sp>
      <p:sp>
        <p:nvSpPr>
          <p:cNvPr id="17" name="TextBox 16"/>
          <p:cNvSpPr txBox="1"/>
          <p:nvPr/>
        </p:nvSpPr>
        <p:spPr>
          <a:xfrm>
            <a:off x="8366759" y="3154680"/>
            <a:ext cx="2926080" cy="365760"/>
          </a:xfrm>
          <a:prstGeom prst="rect">
            <a:avLst/>
          </a:prstGeom>
          <a:noFill/>
        </p:spPr>
        <p:txBody>
          <a:bodyPr wrap="square" lIns="0" rIns="0" tIns="0" bIns="0" anchor="t">
            <a:spAutoFit/>
          </a:bodyPr>
          <a:lstStyle/>
          <a:p>
            <a:pPr algn="l">
              <a:spcAft>
                <a:spcPts val="0"/>
              </a:spcAft>
            </a:pPr>
            <a:r>
              <a:rPr sz="1500" b="1" i="0">
                <a:solidFill>
                  <a:srgbClr val="B91C1C"/>
                </a:solidFill>
                <a:latin typeface="Calibri"/>
              </a:rPr>
              <a:t>Pulls the score down</a:t>
            </a:r>
          </a:p>
        </p:txBody>
      </p:sp>
      <p:sp>
        <p:nvSpPr>
          <p:cNvPr id="18" name="TextBox 17"/>
          <p:cNvSpPr txBox="1"/>
          <p:nvPr/>
        </p:nvSpPr>
        <p:spPr>
          <a:xfrm>
            <a:off x="8366759" y="3566160"/>
            <a:ext cx="2926080" cy="82296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Your mental model goes stale as other people rewrite the code.</a:t>
            </a:r>
          </a:p>
        </p:txBody>
      </p:sp>
      <p:sp>
        <p:nvSpPr>
          <p:cNvPr id="19" name="Rounded Rectangle 18"/>
          <p:cNvSpPr/>
          <p:nvPr/>
        </p:nvSpPr>
        <p:spPr>
          <a:xfrm>
            <a:off x="548640" y="4754880"/>
            <a:ext cx="11064240" cy="1463040"/>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68680" y="4892040"/>
            <a:ext cx="10424160" cy="1188720"/>
          </a:xfrm>
          <a:prstGeom prst="rect">
            <a:avLst/>
          </a:prstGeom>
          <a:noFill/>
        </p:spPr>
        <p:txBody>
          <a:bodyPr wrap="square" lIns="0" rIns="0" tIns="0" bIns="0" anchor="ctr">
            <a:spAutoFit/>
          </a:bodyPr>
          <a:lstStyle/>
          <a:p>
            <a:pPr algn="l">
              <a:spcAft>
                <a:spcPts val="0"/>
              </a:spcAft>
            </a:pPr>
            <a:r>
              <a:rPr sz="1700" b="1" i="0">
                <a:solidFill>
                  <a:srgbClr val="1C1917"/>
                </a:solidFill>
                <a:latin typeface="Calibri"/>
              </a:rPr>
              <a:t>Combined into one score per person per file: </a:t>
            </a:r>
            <a:r>
              <a:rPr sz="1700" b="0" i="0">
                <a:solidFill>
                  <a:srgbClr val="1C1917"/>
                </a:solidFill>
                <a:latin typeface="Calibri"/>
              </a:rPr>
              <a:t>the Degree of Authorship (DOA), a formula from published software-engineering research. </a:t>
            </a:r>
            <a:r>
              <a:rPr sz="1700" b="0" i="0">
                <a:solidFill>
                  <a:srgbClr val="1C1917"/>
                </a:solidFill>
                <a:latin typeface="Calibri"/>
              </a:rPr>
              <a:t>You count as an author (an expert) of a file when your score is high enough and close to the top scorer's.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PART 1 · FINDING THE EXPERTS</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Author, at risk, orphaned</a:t>
            </a:r>
          </a:p>
        </p:txBody>
      </p:sp>
      <p:sp>
        <p:nvSpPr>
          <p:cNvPr id="4" name="Rounded Rectangle 3"/>
          <p:cNvSpPr/>
          <p:nvPr/>
        </p:nvSpPr>
        <p:spPr>
          <a:xfrm>
            <a:off x="548640" y="1783080"/>
            <a:ext cx="3566160" cy="306324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2011680"/>
            <a:ext cx="292608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Courier New"/>
              </a:rPr>
              <a:t>models.py</a:t>
            </a:r>
          </a:p>
        </p:txBody>
      </p:sp>
      <p:sp>
        <p:nvSpPr>
          <p:cNvPr id="6" name="Rounded Rectangle 5"/>
          <p:cNvSpPr/>
          <p:nvPr/>
        </p:nvSpPr>
        <p:spPr>
          <a:xfrm>
            <a:off x="868680" y="2560320"/>
            <a:ext cx="1508760" cy="384048"/>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560320"/>
            <a:ext cx="1508760" cy="384048"/>
          </a:xfrm>
          <a:prstGeom prst="rect">
            <a:avLst/>
          </a:prstGeom>
          <a:noFill/>
        </p:spPr>
        <p:txBody>
          <a:bodyPr wrap="square" lIns="0" rIns="0" tIns="0" bIns="0" anchor="ctr">
            <a:spAutoFit/>
          </a:bodyPr>
          <a:lstStyle/>
          <a:p>
            <a:pPr algn="ctr">
              <a:spcAft>
                <a:spcPts val="0"/>
              </a:spcAft>
            </a:pPr>
            <a:r>
              <a:rPr sz="1300" b="1" i="0">
                <a:solidFill>
                  <a:srgbClr val="C2410C"/>
                </a:solidFill>
                <a:latin typeface="Calibri"/>
              </a:rPr>
              <a:t>ORPHANED</a:t>
            </a:r>
          </a:p>
        </p:txBody>
      </p:sp>
      <p:sp>
        <p:nvSpPr>
          <p:cNvPr id="8" name="TextBox 7"/>
          <p:cNvSpPr txBox="1"/>
          <p:nvPr/>
        </p:nvSpPr>
        <p:spPr>
          <a:xfrm>
            <a:off x="868680" y="3154680"/>
            <a:ext cx="2926080" cy="32004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Experts:</a:t>
            </a:r>
          </a:p>
        </p:txBody>
      </p:sp>
      <p:sp>
        <p:nvSpPr>
          <p:cNvPr id="9" name="Oval 8"/>
          <p:cNvSpPr/>
          <p:nvPr/>
        </p:nvSpPr>
        <p:spPr>
          <a:xfrm>
            <a:off x="868680" y="3520440"/>
            <a:ext cx="384048" cy="384048"/>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K</a:t>
            </a:r>
          </a:p>
        </p:txBody>
      </p:sp>
      <p:sp>
        <p:nvSpPr>
          <p:cNvPr id="10" name="TextBox 9"/>
          <p:cNvSpPr txBox="1"/>
          <p:nvPr/>
        </p:nvSpPr>
        <p:spPr>
          <a:xfrm>
            <a:off x="1325880" y="3520440"/>
            <a:ext cx="914400" cy="384048"/>
          </a:xfrm>
          <a:prstGeom prst="rect">
            <a:avLst/>
          </a:prstGeom>
          <a:noFill/>
        </p:spPr>
        <p:txBody>
          <a:bodyPr wrap="square" lIns="0" rIns="0" tIns="0" bIns="0" anchor="ctr">
            <a:spAutoFit/>
          </a:bodyPr>
          <a:lstStyle/>
          <a:p>
            <a:pPr algn="l">
              <a:spcAft>
                <a:spcPts val="0"/>
              </a:spcAft>
            </a:pPr>
            <a:r>
              <a:rPr sz="1500" b="0" i="0">
                <a:solidFill>
                  <a:srgbClr val="1C1917"/>
                </a:solidFill>
                <a:latin typeface="Calibri"/>
              </a:rPr>
              <a:t>Kenneth</a:t>
            </a:r>
          </a:p>
        </p:txBody>
      </p:sp>
      <p:sp>
        <p:nvSpPr>
          <p:cNvPr id="11" name="TextBox 10"/>
          <p:cNvSpPr txBox="1"/>
          <p:nvPr/>
        </p:nvSpPr>
        <p:spPr>
          <a:xfrm>
            <a:off x="868680" y="4069080"/>
            <a:ext cx="2926080" cy="73152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Kenneth is the only expert. If he leaves, nobody knows it.</a:t>
            </a:r>
          </a:p>
        </p:txBody>
      </p:sp>
      <p:sp>
        <p:nvSpPr>
          <p:cNvPr id="12" name="Rounded Rectangle 11"/>
          <p:cNvSpPr/>
          <p:nvPr/>
        </p:nvSpPr>
        <p:spPr>
          <a:xfrm>
            <a:off x="4297679" y="1783080"/>
            <a:ext cx="3566160" cy="306324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17719" y="2011680"/>
            <a:ext cx="292608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Courier New"/>
              </a:rPr>
              <a:t>compat.py</a:t>
            </a:r>
          </a:p>
        </p:txBody>
      </p:sp>
      <p:sp>
        <p:nvSpPr>
          <p:cNvPr id="14" name="Rounded Rectangle 13"/>
          <p:cNvSpPr/>
          <p:nvPr/>
        </p:nvSpPr>
        <p:spPr>
          <a:xfrm>
            <a:off x="4617719" y="2560320"/>
            <a:ext cx="1508760" cy="384048"/>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617719" y="2560320"/>
            <a:ext cx="1508760" cy="384048"/>
          </a:xfrm>
          <a:prstGeom prst="rect">
            <a:avLst/>
          </a:prstGeom>
          <a:noFill/>
        </p:spPr>
        <p:txBody>
          <a:bodyPr wrap="square" lIns="0" rIns="0" tIns="0" bIns="0" anchor="ctr">
            <a:spAutoFit/>
          </a:bodyPr>
          <a:lstStyle/>
          <a:p>
            <a:pPr algn="ctr">
              <a:spcAft>
                <a:spcPts val="0"/>
              </a:spcAft>
            </a:pPr>
            <a:r>
              <a:rPr sz="1300" b="1" i="0">
                <a:solidFill>
                  <a:srgbClr val="B45309"/>
                </a:solidFill>
                <a:latin typeface="Calibri"/>
              </a:rPr>
              <a:t>AT RISK</a:t>
            </a:r>
          </a:p>
        </p:txBody>
      </p:sp>
      <p:sp>
        <p:nvSpPr>
          <p:cNvPr id="16" name="TextBox 15"/>
          <p:cNvSpPr txBox="1"/>
          <p:nvPr/>
        </p:nvSpPr>
        <p:spPr>
          <a:xfrm>
            <a:off x="4617719" y="3154680"/>
            <a:ext cx="2926080" cy="32004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Experts:</a:t>
            </a:r>
          </a:p>
        </p:txBody>
      </p:sp>
      <p:sp>
        <p:nvSpPr>
          <p:cNvPr id="17" name="Oval 16"/>
          <p:cNvSpPr/>
          <p:nvPr/>
        </p:nvSpPr>
        <p:spPr>
          <a:xfrm>
            <a:off x="4617719" y="3520440"/>
            <a:ext cx="384048" cy="384048"/>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K</a:t>
            </a:r>
          </a:p>
        </p:txBody>
      </p:sp>
      <p:sp>
        <p:nvSpPr>
          <p:cNvPr id="18" name="TextBox 17"/>
          <p:cNvSpPr txBox="1"/>
          <p:nvPr/>
        </p:nvSpPr>
        <p:spPr>
          <a:xfrm>
            <a:off x="5074919" y="3520440"/>
            <a:ext cx="914400" cy="384048"/>
          </a:xfrm>
          <a:prstGeom prst="rect">
            <a:avLst/>
          </a:prstGeom>
          <a:noFill/>
        </p:spPr>
        <p:txBody>
          <a:bodyPr wrap="square" lIns="0" rIns="0" tIns="0" bIns="0" anchor="ctr">
            <a:spAutoFit/>
          </a:bodyPr>
          <a:lstStyle/>
          <a:p>
            <a:pPr algn="l">
              <a:spcAft>
                <a:spcPts val="0"/>
              </a:spcAft>
            </a:pPr>
            <a:r>
              <a:rPr sz="1500" b="0" i="0">
                <a:solidFill>
                  <a:srgbClr val="1C1917"/>
                </a:solidFill>
                <a:latin typeface="Calibri"/>
              </a:rPr>
              <a:t>Kenneth</a:t>
            </a:r>
          </a:p>
        </p:txBody>
      </p:sp>
      <p:sp>
        <p:nvSpPr>
          <p:cNvPr id="19" name="Oval 18"/>
          <p:cNvSpPr/>
          <p:nvPr/>
        </p:nvSpPr>
        <p:spPr>
          <a:xfrm>
            <a:off x="6035039" y="3520440"/>
            <a:ext cx="384048" cy="384048"/>
          </a:xfrm>
          <a:prstGeom prst="ellipse">
            <a:avLst/>
          </a:prstGeom>
          <a:solidFill>
            <a:srgbClr val="2925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N</a:t>
            </a:r>
          </a:p>
        </p:txBody>
      </p:sp>
      <p:sp>
        <p:nvSpPr>
          <p:cNvPr id="20" name="TextBox 19"/>
          <p:cNvSpPr txBox="1"/>
          <p:nvPr/>
        </p:nvSpPr>
        <p:spPr>
          <a:xfrm>
            <a:off x="6492239" y="3520440"/>
            <a:ext cx="914400" cy="384048"/>
          </a:xfrm>
          <a:prstGeom prst="rect">
            <a:avLst/>
          </a:prstGeom>
          <a:noFill/>
        </p:spPr>
        <p:txBody>
          <a:bodyPr wrap="square" lIns="0" rIns="0" tIns="0" bIns="0" anchor="ctr">
            <a:spAutoFit/>
          </a:bodyPr>
          <a:lstStyle/>
          <a:p>
            <a:pPr algn="l">
              <a:spcAft>
                <a:spcPts val="0"/>
              </a:spcAft>
            </a:pPr>
            <a:r>
              <a:rPr sz="1500" b="0" i="0">
                <a:solidFill>
                  <a:srgbClr val="1C1917"/>
                </a:solidFill>
                <a:latin typeface="Calibri"/>
              </a:rPr>
              <a:t>Nate</a:t>
            </a:r>
          </a:p>
        </p:txBody>
      </p:sp>
      <p:sp>
        <p:nvSpPr>
          <p:cNvPr id="21" name="TextBox 20"/>
          <p:cNvSpPr txBox="1"/>
          <p:nvPr/>
        </p:nvSpPr>
        <p:spPr>
          <a:xfrm>
            <a:off x="4617719" y="4069080"/>
            <a:ext cx="2926080" cy="73152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Kenneth is an expert, but Nate knows it too.</a:t>
            </a:r>
          </a:p>
        </p:txBody>
      </p:sp>
      <p:sp>
        <p:nvSpPr>
          <p:cNvPr id="22" name="Rounded Rectangle 21"/>
          <p:cNvSpPr/>
          <p:nvPr/>
        </p:nvSpPr>
        <p:spPr>
          <a:xfrm>
            <a:off x="8046719" y="1783080"/>
            <a:ext cx="3566160" cy="306324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66759" y="2011680"/>
            <a:ext cx="292608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Courier New"/>
              </a:rPr>
              <a:t>_types.py</a:t>
            </a:r>
          </a:p>
        </p:txBody>
      </p:sp>
      <p:sp>
        <p:nvSpPr>
          <p:cNvPr id="24" name="Rounded Rectangle 23"/>
          <p:cNvSpPr/>
          <p:nvPr/>
        </p:nvSpPr>
        <p:spPr>
          <a:xfrm>
            <a:off x="8366759" y="2560320"/>
            <a:ext cx="1508760" cy="384048"/>
          </a:xfrm>
          <a:prstGeom prst="roundRect">
            <a:avLst>
              <a:gd name="adj" fmla="val 8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66759" y="2560320"/>
            <a:ext cx="1508760" cy="384048"/>
          </a:xfrm>
          <a:prstGeom prst="rect">
            <a:avLst/>
          </a:prstGeom>
          <a:noFill/>
        </p:spPr>
        <p:txBody>
          <a:bodyPr wrap="square" lIns="0" rIns="0" tIns="0" bIns="0" anchor="ctr">
            <a:spAutoFit/>
          </a:bodyPr>
          <a:lstStyle/>
          <a:p>
            <a:pPr algn="ctr">
              <a:spcAft>
                <a:spcPts val="0"/>
              </a:spcAft>
            </a:pPr>
            <a:r>
              <a:rPr sz="1300" b="1" i="0">
                <a:solidFill>
                  <a:srgbClr val="15803D"/>
                </a:solidFill>
                <a:latin typeface="Calibri"/>
              </a:rPr>
              <a:t>SAFE</a:t>
            </a:r>
          </a:p>
        </p:txBody>
      </p:sp>
      <p:sp>
        <p:nvSpPr>
          <p:cNvPr id="26" name="TextBox 25"/>
          <p:cNvSpPr txBox="1"/>
          <p:nvPr/>
        </p:nvSpPr>
        <p:spPr>
          <a:xfrm>
            <a:off x="8366759" y="3154680"/>
            <a:ext cx="2926080" cy="32004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Experts:</a:t>
            </a:r>
          </a:p>
        </p:txBody>
      </p:sp>
      <p:sp>
        <p:nvSpPr>
          <p:cNvPr id="27" name="Oval 26"/>
          <p:cNvSpPr/>
          <p:nvPr/>
        </p:nvSpPr>
        <p:spPr>
          <a:xfrm>
            <a:off x="8366759" y="3520440"/>
            <a:ext cx="384048" cy="384048"/>
          </a:xfrm>
          <a:prstGeom prst="ellipse">
            <a:avLst/>
          </a:prstGeom>
          <a:solidFill>
            <a:srgbClr val="2925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N</a:t>
            </a:r>
          </a:p>
        </p:txBody>
      </p:sp>
      <p:sp>
        <p:nvSpPr>
          <p:cNvPr id="28" name="TextBox 27"/>
          <p:cNvSpPr txBox="1"/>
          <p:nvPr/>
        </p:nvSpPr>
        <p:spPr>
          <a:xfrm>
            <a:off x="8823959" y="3520440"/>
            <a:ext cx="914400" cy="384048"/>
          </a:xfrm>
          <a:prstGeom prst="rect">
            <a:avLst/>
          </a:prstGeom>
          <a:noFill/>
        </p:spPr>
        <p:txBody>
          <a:bodyPr wrap="square" lIns="0" rIns="0" tIns="0" bIns="0" anchor="ctr">
            <a:spAutoFit/>
          </a:bodyPr>
          <a:lstStyle/>
          <a:p>
            <a:pPr algn="l">
              <a:spcAft>
                <a:spcPts val="0"/>
              </a:spcAft>
            </a:pPr>
            <a:r>
              <a:rPr sz="1500" b="0" i="0">
                <a:solidFill>
                  <a:srgbClr val="1C1917"/>
                </a:solidFill>
                <a:latin typeface="Calibri"/>
              </a:rPr>
              <a:t>Nate</a:t>
            </a:r>
          </a:p>
        </p:txBody>
      </p:sp>
      <p:sp>
        <p:nvSpPr>
          <p:cNvPr id="29" name="TextBox 28"/>
          <p:cNvSpPr txBox="1"/>
          <p:nvPr/>
        </p:nvSpPr>
        <p:spPr>
          <a:xfrm>
            <a:off x="8366759" y="4069080"/>
            <a:ext cx="2926080" cy="73152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Kenneth isn't an expert here. Unaffected.</a:t>
            </a:r>
          </a:p>
        </p:txBody>
      </p:sp>
      <p:sp>
        <p:nvSpPr>
          <p:cNvPr id="30" name="TextBox 29"/>
          <p:cNvSpPr txBox="1"/>
          <p:nvPr/>
        </p:nvSpPr>
        <p:spPr>
          <a:xfrm>
            <a:off x="548640" y="5212080"/>
            <a:ext cx="11064240" cy="411480"/>
          </a:xfrm>
          <a:prstGeom prst="rect">
            <a:avLst/>
          </a:prstGeom>
          <a:noFill/>
        </p:spPr>
        <p:txBody>
          <a:bodyPr wrap="square" lIns="0" rIns="0" tIns="0" bIns="0" anchor="t">
            <a:spAutoFit/>
          </a:bodyPr>
          <a:lstStyle/>
          <a:p>
            <a:pPr algn="l">
              <a:spcAft>
                <a:spcPts val="0"/>
              </a:spcAft>
            </a:pPr>
            <a:r>
              <a:rPr sz="1800" b="1" i="0">
                <a:solidFill>
                  <a:srgbClr val="1C1917"/>
                </a:solidFill>
                <a:latin typeface="Arial"/>
              </a:rPr>
              <a:t>Real files from psf/requests. Scenario: Kenneth Reitz is leaving.</a:t>
            </a:r>
          </a:p>
        </p:txBody>
      </p:sp>
      <p:sp>
        <p:nvSpPr>
          <p:cNvPr id="31" name="TextBox 30"/>
          <p:cNvSpPr txBox="1"/>
          <p:nvPr/>
        </p:nvSpPr>
        <p:spPr>
          <a:xfrm>
            <a:off x="548640" y="5623560"/>
            <a:ext cx="11064240" cy="640080"/>
          </a:xfrm>
          <a:prstGeom prst="rect">
            <a:avLst/>
          </a:prstGeom>
          <a:noFill/>
        </p:spPr>
        <p:txBody>
          <a:bodyPr wrap="square" lIns="0" rIns="0" tIns="0" bIns="0" anchor="t">
            <a:spAutoFit/>
          </a:bodyPr>
          <a:lstStyle/>
          <a:p>
            <a:pPr algn="l">
              <a:spcAft>
                <a:spcPts val="0"/>
              </a:spcAft>
            </a:pPr>
            <a:r>
              <a:rPr sz="1600" b="0" i="0">
                <a:solidFill>
                  <a:srgbClr val="57534E"/>
                </a:solidFill>
                <a:latin typeface="Calibri"/>
              </a:rPr>
              <a:t>Author ≠ committer. Fixing one typo in a file doesn't make you its expert, which is why someone with fewer commits can still be the expert on more files.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PART 1 · FINDING THE EXPERTS</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Two health numbers for the whole project</a:t>
            </a:r>
          </a:p>
        </p:txBody>
      </p:sp>
      <p:sp>
        <p:nvSpPr>
          <p:cNvPr id="4" name="Rounded Rectangle 3"/>
          <p:cNvSpPr/>
          <p:nvPr/>
        </p:nvSpPr>
        <p:spPr>
          <a:xfrm>
            <a:off x="548640" y="1783080"/>
            <a:ext cx="5440680" cy="29260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2011680"/>
            <a:ext cx="466344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File coverage</a:t>
            </a:r>
          </a:p>
        </p:txBody>
      </p:sp>
      <p:sp>
        <p:nvSpPr>
          <p:cNvPr id="6" name="TextBox 5"/>
          <p:cNvSpPr txBox="1"/>
          <p:nvPr/>
        </p:nvSpPr>
        <p:spPr>
          <a:xfrm>
            <a:off x="960120" y="2560320"/>
            <a:ext cx="4663440" cy="1097280"/>
          </a:xfrm>
          <a:prstGeom prst="rect">
            <a:avLst/>
          </a:prstGeom>
          <a:noFill/>
        </p:spPr>
        <p:txBody>
          <a:bodyPr wrap="square" lIns="0" rIns="0" tIns="0" bIns="0" anchor="t">
            <a:spAutoFit/>
          </a:bodyPr>
          <a:lstStyle/>
          <a:p>
            <a:pPr algn="l">
              <a:spcAft>
                <a:spcPts val="0"/>
              </a:spcAft>
            </a:pPr>
            <a:r>
              <a:rPr sz="5600" b="1" i="0">
                <a:solidFill>
                  <a:srgbClr val="C2410C"/>
                </a:solidFill>
                <a:latin typeface="Arial"/>
              </a:rPr>
              <a:t>100% → 65%</a:t>
            </a:r>
          </a:p>
        </p:txBody>
      </p:sp>
      <p:sp>
        <p:nvSpPr>
          <p:cNvPr id="7" name="TextBox 6"/>
          <p:cNvSpPr txBox="1"/>
          <p:nvPr/>
        </p:nvSpPr>
        <p:spPr>
          <a:xfrm>
            <a:off x="960120" y="3749039"/>
            <a:ext cx="4663440" cy="822960"/>
          </a:xfrm>
          <a:prstGeom prst="rect">
            <a:avLst/>
          </a:prstGeom>
          <a:noFill/>
        </p:spPr>
        <p:txBody>
          <a:bodyPr wrap="square" lIns="0" rIns="0" tIns="0" bIns="0" anchor="t">
            <a:spAutoFit/>
          </a:bodyPr>
          <a:lstStyle/>
          <a:p>
            <a:pPr algn="l">
              <a:spcAft>
                <a:spcPts val="0"/>
              </a:spcAft>
            </a:pPr>
            <a:r>
              <a:rPr sz="1600" b="0" i="0">
                <a:solidFill>
                  <a:srgbClr val="57534E"/>
                </a:solidFill>
                <a:latin typeface="Calibri"/>
              </a:rPr>
              <a:t>The share of files that still have at least one expert.</a:t>
            </a:r>
          </a:p>
        </p:txBody>
      </p:sp>
      <p:sp>
        <p:nvSpPr>
          <p:cNvPr id="8" name="Rounded Rectangle 7"/>
          <p:cNvSpPr/>
          <p:nvPr/>
        </p:nvSpPr>
        <p:spPr>
          <a:xfrm>
            <a:off x="6172200" y="1783080"/>
            <a:ext cx="5440680" cy="29260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0" y="2011680"/>
            <a:ext cx="466344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Truck factor</a:t>
            </a:r>
          </a:p>
        </p:txBody>
      </p:sp>
      <p:sp>
        <p:nvSpPr>
          <p:cNvPr id="10" name="TextBox 9"/>
          <p:cNvSpPr txBox="1"/>
          <p:nvPr/>
        </p:nvSpPr>
        <p:spPr>
          <a:xfrm>
            <a:off x="6583680" y="2560320"/>
            <a:ext cx="4663440" cy="1097280"/>
          </a:xfrm>
          <a:prstGeom prst="rect">
            <a:avLst/>
          </a:prstGeom>
          <a:noFill/>
        </p:spPr>
        <p:txBody>
          <a:bodyPr wrap="square" lIns="0" rIns="0" tIns="0" bIns="0" anchor="t">
            <a:spAutoFit/>
          </a:bodyPr>
          <a:lstStyle/>
          <a:p>
            <a:pPr algn="l">
              <a:spcAft>
                <a:spcPts val="0"/>
              </a:spcAft>
            </a:pPr>
            <a:r>
              <a:rPr sz="5600" b="1" i="0">
                <a:solidFill>
                  <a:srgbClr val="C2410C"/>
                </a:solidFill>
                <a:latin typeface="Arial"/>
              </a:rPr>
              <a:t>3 → 2</a:t>
            </a:r>
          </a:p>
        </p:txBody>
      </p:sp>
      <p:sp>
        <p:nvSpPr>
          <p:cNvPr id="11" name="TextBox 10"/>
          <p:cNvSpPr txBox="1"/>
          <p:nvPr/>
        </p:nvSpPr>
        <p:spPr>
          <a:xfrm>
            <a:off x="6583680" y="3749039"/>
            <a:ext cx="4663440" cy="822960"/>
          </a:xfrm>
          <a:prstGeom prst="rect">
            <a:avLst/>
          </a:prstGeom>
          <a:noFill/>
        </p:spPr>
        <p:txBody>
          <a:bodyPr wrap="square" lIns="0" rIns="0" tIns="0" bIns="0" anchor="t">
            <a:spAutoFit/>
          </a:bodyPr>
          <a:lstStyle/>
          <a:p>
            <a:pPr algn="l">
              <a:spcAft>
                <a:spcPts val="0"/>
              </a:spcAft>
            </a:pPr>
            <a:r>
              <a:rPr sz="1600" b="0" i="0">
                <a:solidFill>
                  <a:srgbClr val="57534E"/>
                </a:solidFill>
                <a:latin typeface="Calibri"/>
              </a:rPr>
              <a:t>How many people can leave before more than half the code has no expert.</a:t>
            </a:r>
          </a:p>
        </p:txBody>
      </p:sp>
      <p:sp>
        <p:nvSpPr>
          <p:cNvPr id="12" name="TextBox 11"/>
          <p:cNvSpPr txBox="1"/>
          <p:nvPr/>
        </p:nvSpPr>
        <p:spPr>
          <a:xfrm>
            <a:off x="548640" y="4983480"/>
            <a:ext cx="11064240" cy="41148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psf/requests, if Kenneth Reitz leaves</a:t>
            </a:r>
          </a:p>
        </p:txBody>
      </p:sp>
      <p:sp>
        <p:nvSpPr>
          <p:cNvPr id="13" name="TextBox 12"/>
          <p:cNvSpPr txBox="1"/>
          <p:nvPr/>
        </p:nvSpPr>
        <p:spPr>
          <a:xfrm>
            <a:off x="548640" y="5394960"/>
            <a:ext cx="11064240" cy="822960"/>
          </a:xfrm>
          <a:prstGeom prst="rect">
            <a:avLst/>
          </a:prstGeom>
          <a:noFill/>
        </p:spPr>
        <p:txBody>
          <a:bodyPr wrap="square" lIns="0" rIns="0" tIns="0" bIns="0" anchor="t">
            <a:spAutoFit/>
          </a:bodyPr>
          <a:lstStyle/>
          <a:p>
            <a:pPr algn="l">
              <a:spcAft>
                <a:spcPts val="0"/>
              </a:spcAft>
            </a:pPr>
            <a:r>
              <a:rPr sz="1600" b="1" i="0">
                <a:solidFill>
                  <a:srgbClr val="1C1917"/>
                </a:solidFill>
                <a:latin typeface="Calibri"/>
              </a:rPr>
              <a:t>How the truck factor is found: </a:t>
            </a:r>
            <a:r>
              <a:rPr sz="1600" b="0" i="0">
                <a:solidFill>
                  <a:srgbClr val="1C1917"/>
                </a:solidFill>
                <a:latin typeface="Calibri"/>
              </a:rPr>
              <a:t>remove the biggest expert, then the next, and count how many it takes until more than half the files have nobody left. The method comes from published research.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PART 1 · FINDING THE EXPERTS</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Not all lost code hurts equally</a:t>
            </a:r>
          </a:p>
        </p:txBody>
      </p:sp>
      <p:sp>
        <p:nvSpPr>
          <p:cNvPr id="4" name="TextBox 3"/>
          <p:cNvSpPr txBox="1"/>
          <p:nvPr/>
        </p:nvSpPr>
        <p:spPr>
          <a:xfrm>
            <a:off x="548640" y="1783080"/>
            <a:ext cx="1097280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Importance of a file: a score from 0 to 1</a:t>
            </a:r>
          </a:p>
        </p:txBody>
      </p:sp>
      <p:sp>
        <p:nvSpPr>
          <p:cNvPr id="5" name="Rectangle 4"/>
          <p:cNvSpPr/>
          <p:nvPr/>
        </p:nvSpPr>
        <p:spPr>
          <a:xfrm>
            <a:off x="548640" y="2331720"/>
            <a:ext cx="4370832" cy="685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2331720"/>
            <a:ext cx="4059935" cy="685800"/>
          </a:xfrm>
          <a:prstGeom prst="rect">
            <a:avLst/>
          </a:prstGeom>
          <a:noFill/>
        </p:spPr>
        <p:txBody>
          <a:bodyPr wrap="square" lIns="0" rIns="0" tIns="0" bIns="0" anchor="ctr">
            <a:spAutoFit/>
          </a:bodyPr>
          <a:lstStyle/>
          <a:p>
            <a:pPr algn="l">
              <a:spcAft>
                <a:spcPts val="0"/>
              </a:spcAft>
            </a:pPr>
            <a:r>
              <a:rPr sz="1700" b="1" i="0">
                <a:solidFill>
                  <a:srgbClr val="FFFFFF"/>
                </a:solidFill>
                <a:latin typeface="Calibri"/>
              </a:rPr>
              <a:t>Size  </a:t>
            </a:r>
            <a:r>
              <a:rPr sz="1700" b="0" i="0">
                <a:solidFill>
                  <a:srgbClr val="FFFFFF"/>
                </a:solidFill>
                <a:latin typeface="Calibri"/>
              </a:rPr>
              <a:t>40%</a:t>
            </a:r>
          </a:p>
        </p:txBody>
      </p:sp>
      <p:sp>
        <p:nvSpPr>
          <p:cNvPr id="7" name="TextBox 6"/>
          <p:cNvSpPr txBox="1"/>
          <p:nvPr/>
        </p:nvSpPr>
        <p:spPr>
          <a:xfrm>
            <a:off x="548640" y="3127248"/>
            <a:ext cx="4242816" cy="54864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Bigger files hold more logic</a:t>
            </a:r>
          </a:p>
        </p:txBody>
      </p:sp>
      <p:sp>
        <p:nvSpPr>
          <p:cNvPr id="8" name="Rectangle 7"/>
          <p:cNvSpPr/>
          <p:nvPr/>
        </p:nvSpPr>
        <p:spPr>
          <a:xfrm>
            <a:off x="4974336" y="2331720"/>
            <a:ext cx="4370832" cy="685800"/>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157216" y="2331720"/>
            <a:ext cx="4059935" cy="685800"/>
          </a:xfrm>
          <a:prstGeom prst="rect">
            <a:avLst/>
          </a:prstGeom>
          <a:noFill/>
        </p:spPr>
        <p:txBody>
          <a:bodyPr wrap="square" lIns="0" rIns="0" tIns="0" bIns="0" anchor="ctr">
            <a:spAutoFit/>
          </a:bodyPr>
          <a:lstStyle/>
          <a:p>
            <a:pPr algn="l">
              <a:spcAft>
                <a:spcPts val="0"/>
              </a:spcAft>
            </a:pPr>
            <a:r>
              <a:rPr sz="1700" b="1" i="0">
                <a:solidFill>
                  <a:srgbClr val="FFFFFF"/>
                </a:solidFill>
                <a:latin typeface="Calibri"/>
              </a:rPr>
              <a:t>Fan-in  </a:t>
            </a:r>
            <a:r>
              <a:rPr sz="1700" b="0" i="0">
                <a:solidFill>
                  <a:srgbClr val="FFFFFF"/>
                </a:solidFill>
                <a:latin typeface="Calibri"/>
              </a:rPr>
              <a:t>40%</a:t>
            </a:r>
          </a:p>
        </p:txBody>
      </p:sp>
      <p:sp>
        <p:nvSpPr>
          <p:cNvPr id="10" name="TextBox 9"/>
          <p:cNvSpPr txBox="1"/>
          <p:nvPr/>
        </p:nvSpPr>
        <p:spPr>
          <a:xfrm>
            <a:off x="4974336" y="3127248"/>
            <a:ext cx="4242816" cy="54864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How many other files import it</a:t>
            </a:r>
          </a:p>
        </p:txBody>
      </p:sp>
      <p:sp>
        <p:nvSpPr>
          <p:cNvPr id="11" name="Rectangle 10"/>
          <p:cNvSpPr/>
          <p:nvPr/>
        </p:nvSpPr>
        <p:spPr>
          <a:xfrm>
            <a:off x="9400032" y="2331720"/>
            <a:ext cx="2157984" cy="685800"/>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82911" y="2331720"/>
            <a:ext cx="1847088" cy="685800"/>
          </a:xfrm>
          <a:prstGeom prst="rect">
            <a:avLst/>
          </a:prstGeom>
          <a:noFill/>
        </p:spPr>
        <p:txBody>
          <a:bodyPr wrap="square" lIns="0" rIns="0" tIns="0" bIns="0" anchor="ctr">
            <a:spAutoFit/>
          </a:bodyPr>
          <a:lstStyle/>
          <a:p>
            <a:pPr algn="l">
              <a:spcAft>
                <a:spcPts val="0"/>
              </a:spcAft>
            </a:pPr>
            <a:r>
              <a:rPr sz="1700" b="1" i="0">
                <a:solidFill>
                  <a:srgbClr val="FFFFFF"/>
                </a:solidFill>
                <a:latin typeface="Calibri"/>
              </a:rPr>
              <a:t>Recent work  </a:t>
            </a:r>
            <a:r>
              <a:rPr sz="1700" b="0" i="0">
                <a:solidFill>
                  <a:srgbClr val="FFFFFF"/>
                </a:solidFill>
                <a:latin typeface="Calibri"/>
              </a:rPr>
              <a:t>20%</a:t>
            </a:r>
          </a:p>
        </p:txBody>
      </p:sp>
      <p:sp>
        <p:nvSpPr>
          <p:cNvPr id="13" name="TextBox 12"/>
          <p:cNvSpPr txBox="1"/>
          <p:nvPr/>
        </p:nvSpPr>
        <p:spPr>
          <a:xfrm>
            <a:off x="9400032" y="3127248"/>
            <a:ext cx="2029967" cy="54864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Did the leaver change it lately?</a:t>
            </a:r>
          </a:p>
        </p:txBody>
      </p:sp>
      <p:sp>
        <p:nvSpPr>
          <p:cNvPr id="14" name="Rounded Rectangle 13"/>
          <p:cNvSpPr/>
          <p:nvPr/>
        </p:nvSpPr>
        <p:spPr>
          <a:xfrm>
            <a:off x="548640" y="3977639"/>
            <a:ext cx="5440680" cy="219456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4160520"/>
            <a:ext cx="484632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Folder risk</a:t>
            </a:r>
          </a:p>
        </p:txBody>
      </p:sp>
      <p:sp>
        <p:nvSpPr>
          <p:cNvPr id="16" name="TextBox 15"/>
          <p:cNvSpPr txBox="1"/>
          <p:nvPr/>
        </p:nvSpPr>
        <p:spPr>
          <a:xfrm>
            <a:off x="868680" y="4617720"/>
            <a:ext cx="4846320" cy="146304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Add up the importance of the folder's orphaned files, plus half for files someone else still knows. Bigger means more important code loses its expert.</a:t>
            </a:r>
          </a:p>
        </p:txBody>
      </p:sp>
      <p:sp>
        <p:nvSpPr>
          <p:cNvPr id="17" name="Rounded Rectangle 16"/>
          <p:cNvSpPr/>
          <p:nvPr/>
        </p:nvSpPr>
        <p:spPr>
          <a:xfrm>
            <a:off x="6172200" y="3977639"/>
            <a:ext cx="5440680" cy="219456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92240" y="4160520"/>
            <a:ext cx="484632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How to read it</a:t>
            </a:r>
          </a:p>
        </p:txBody>
      </p:sp>
      <p:sp>
        <p:nvSpPr>
          <p:cNvPr id="19" name="TextBox 18"/>
          <p:cNvSpPr txBox="1"/>
          <p:nvPr/>
        </p:nvSpPr>
        <p:spPr>
          <a:xfrm>
            <a:off x="6492240" y="4617720"/>
            <a:ext cx="4846320" cy="146304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Not 0 to 1: it grows with the number of risky files. Compare folders within the same repo only. The top 5 folders go on to the KT plan.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PART 1 · FINDING THE EXPERTS</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Who should take over?</a:t>
            </a:r>
          </a:p>
        </p:txBody>
      </p:sp>
      <p:sp>
        <p:nvSpPr>
          <p:cNvPr id="4" name="Oval 3"/>
          <p:cNvSpPr/>
          <p:nvPr/>
        </p:nvSpPr>
        <p:spPr>
          <a:xfrm>
            <a:off x="548640" y="1828800"/>
            <a:ext cx="457200" cy="457200"/>
          </a:xfrm>
          <a:prstGeom prst="ellipse">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5803D"/>
                </a:solidFill>
                <a:latin typeface="Arial"/>
              </a:rPr>
              <a:t>✓</a:t>
            </a:r>
          </a:p>
        </p:txBody>
      </p:sp>
      <p:sp>
        <p:nvSpPr>
          <p:cNvPr id="5" name="TextBox 4"/>
          <p:cNvSpPr txBox="1"/>
          <p:nvPr/>
        </p:nvSpPr>
        <p:spPr>
          <a:xfrm>
            <a:off x="1188720" y="1810512"/>
            <a:ext cx="4480560" cy="365760"/>
          </a:xfrm>
          <a:prstGeom prst="rect">
            <a:avLst/>
          </a:prstGeom>
          <a:noFill/>
        </p:spPr>
        <p:txBody>
          <a:bodyPr wrap="square" lIns="0" rIns="0" tIns="0" bIns="0" anchor="t">
            <a:spAutoFit/>
          </a:bodyPr>
          <a:lstStyle/>
          <a:p>
            <a:pPr algn="l">
              <a:spcAft>
                <a:spcPts val="0"/>
              </a:spcAft>
            </a:pPr>
            <a:r>
              <a:rPr sz="1800" b="1" i="0">
                <a:solidFill>
                  <a:srgbClr val="1C1917"/>
                </a:solidFill>
                <a:latin typeface="Calibri"/>
              </a:rPr>
              <a:t>Not the person leaving</a:t>
            </a:r>
          </a:p>
        </p:txBody>
      </p:sp>
      <p:sp>
        <p:nvSpPr>
          <p:cNvPr id="6" name="Oval 5"/>
          <p:cNvSpPr/>
          <p:nvPr/>
        </p:nvSpPr>
        <p:spPr>
          <a:xfrm>
            <a:off x="548640" y="2788920"/>
            <a:ext cx="457200" cy="457200"/>
          </a:xfrm>
          <a:prstGeom prst="ellipse">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5803D"/>
                </a:solidFill>
                <a:latin typeface="Arial"/>
              </a:rPr>
              <a:t>✓</a:t>
            </a:r>
          </a:p>
        </p:txBody>
      </p:sp>
      <p:sp>
        <p:nvSpPr>
          <p:cNvPr id="7" name="TextBox 6"/>
          <p:cNvSpPr txBox="1"/>
          <p:nvPr/>
        </p:nvSpPr>
        <p:spPr>
          <a:xfrm>
            <a:off x="1188720" y="2770632"/>
            <a:ext cx="4480560" cy="365760"/>
          </a:xfrm>
          <a:prstGeom prst="rect">
            <a:avLst/>
          </a:prstGeom>
          <a:noFill/>
        </p:spPr>
        <p:txBody>
          <a:bodyPr wrap="square" lIns="0" rIns="0" tIns="0" bIns="0" anchor="t">
            <a:spAutoFit/>
          </a:bodyPr>
          <a:lstStyle/>
          <a:p>
            <a:pPr algn="l">
              <a:spcAft>
                <a:spcPts val="0"/>
              </a:spcAft>
            </a:pPr>
            <a:r>
              <a:rPr sz="1800" b="1" i="0">
                <a:solidFill>
                  <a:srgbClr val="1C1917"/>
                </a:solidFill>
                <a:latin typeface="Calibri"/>
              </a:rPr>
              <a:t>Has worked on this folder</a:t>
            </a:r>
          </a:p>
        </p:txBody>
      </p:sp>
      <p:sp>
        <p:nvSpPr>
          <p:cNvPr id="8" name="TextBox 7"/>
          <p:cNvSpPr txBox="1"/>
          <p:nvPr/>
        </p:nvSpPr>
        <p:spPr>
          <a:xfrm>
            <a:off x="1188720" y="3136391"/>
            <a:ext cx="4480560" cy="36576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even partly, not necessarily an expert</a:t>
            </a:r>
          </a:p>
        </p:txBody>
      </p:sp>
      <p:sp>
        <p:nvSpPr>
          <p:cNvPr id="9" name="Oval 8"/>
          <p:cNvSpPr/>
          <p:nvPr/>
        </p:nvSpPr>
        <p:spPr>
          <a:xfrm>
            <a:off x="548640" y="3749039"/>
            <a:ext cx="457200" cy="457200"/>
          </a:xfrm>
          <a:prstGeom prst="ellipse">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5803D"/>
                </a:solidFill>
                <a:latin typeface="Arial"/>
              </a:rPr>
              <a:t>✓</a:t>
            </a:r>
          </a:p>
        </p:txBody>
      </p:sp>
      <p:sp>
        <p:nvSpPr>
          <p:cNvPr id="10" name="TextBox 9"/>
          <p:cNvSpPr txBox="1"/>
          <p:nvPr/>
        </p:nvSpPr>
        <p:spPr>
          <a:xfrm>
            <a:off x="1188720" y="3730752"/>
            <a:ext cx="4480560" cy="365760"/>
          </a:xfrm>
          <a:prstGeom prst="rect">
            <a:avLst/>
          </a:prstGeom>
          <a:noFill/>
        </p:spPr>
        <p:txBody>
          <a:bodyPr wrap="square" lIns="0" rIns="0" tIns="0" bIns="0" anchor="t">
            <a:spAutoFit/>
          </a:bodyPr>
          <a:lstStyle/>
          <a:p>
            <a:pPr algn="l">
              <a:spcAft>
                <a:spcPts val="0"/>
              </a:spcAft>
            </a:pPr>
            <a:r>
              <a:rPr sz="1800" b="1" i="0">
                <a:solidFill>
                  <a:srgbClr val="1C1917"/>
                </a:solidFill>
                <a:latin typeface="Calibri"/>
              </a:rPr>
              <a:t>Still active</a:t>
            </a:r>
          </a:p>
        </p:txBody>
      </p:sp>
      <p:sp>
        <p:nvSpPr>
          <p:cNvPr id="11" name="TextBox 10"/>
          <p:cNvSpPr txBox="1"/>
          <p:nvPr/>
        </p:nvSpPr>
        <p:spPr>
          <a:xfrm>
            <a:off x="1188720" y="4096511"/>
            <a:ext cx="4480560" cy="36576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committed in the last 12 months</a:t>
            </a:r>
          </a:p>
        </p:txBody>
      </p:sp>
      <p:sp>
        <p:nvSpPr>
          <p:cNvPr id="12" name="TextBox 11"/>
          <p:cNvSpPr txBox="1"/>
          <p:nvPr/>
        </p:nvSpPr>
        <p:spPr>
          <a:xfrm>
            <a:off x="548640" y="4800600"/>
            <a:ext cx="5120640" cy="1371600"/>
          </a:xfrm>
          <a:prstGeom prst="rect">
            <a:avLst/>
          </a:prstGeom>
          <a:noFill/>
        </p:spPr>
        <p:txBody>
          <a:bodyPr wrap="square" lIns="0" rIns="0" tIns="0" bIns="0" anchor="t">
            <a:spAutoFit/>
          </a:bodyPr>
          <a:lstStyle/>
          <a:p>
            <a:pPr algn="l">
              <a:spcAft>
                <a:spcPts val="0"/>
              </a:spcAft>
            </a:pPr>
            <a:r>
              <a:rPr sz="1600" b="1" i="0">
                <a:solidFill>
                  <a:srgbClr val="1C1917"/>
                </a:solidFill>
                <a:latin typeface="Calibri"/>
              </a:rPr>
              <a:t>Among those, the one who knows the most of the folder wins. </a:t>
            </a:r>
            <a:r>
              <a:rPr sz="1600" b="0" i="0">
                <a:solidFill>
                  <a:srgbClr val="1C1917"/>
                </a:solidFill>
                <a:latin typeface="Calibri"/>
              </a:rPr>
              <a:t>“none” means nobody active has ever worked there: a real warning.</a:t>
            </a:r>
          </a:p>
        </p:txBody>
      </p:sp>
      <p:sp>
        <p:nvSpPr>
          <p:cNvPr id="13" name="Rounded Rectangle 12"/>
          <p:cNvSpPr/>
          <p:nvPr/>
        </p:nvSpPr>
        <p:spPr>
          <a:xfrm>
            <a:off x="6172200" y="1783080"/>
            <a:ext cx="5440680" cy="438912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92240" y="1965960"/>
            <a:ext cx="4846320" cy="365760"/>
          </a:xfrm>
          <a:prstGeom prst="rect">
            <a:avLst/>
          </a:prstGeom>
          <a:noFill/>
        </p:spPr>
        <p:txBody>
          <a:bodyPr wrap="square" lIns="0" rIns="0" tIns="0" bIns="0" anchor="t">
            <a:spAutoFit/>
          </a:bodyPr>
          <a:lstStyle/>
          <a:p>
            <a:pPr algn="l">
              <a:spcAft>
                <a:spcPts val="0"/>
              </a:spcAft>
            </a:pPr>
            <a:r>
              <a:rPr sz="1500" b="0" i="0">
                <a:solidFill>
                  <a:srgbClr val="57534E"/>
                </a:solidFill>
                <a:latin typeface="Courier New"/>
              </a:rPr>
              <a:t>Example: data_structures/linked_list/</a:t>
            </a:r>
          </a:p>
        </p:txBody>
      </p:sp>
      <p:sp>
        <p:nvSpPr>
          <p:cNvPr id="15" name="Rounded Rectangle 14"/>
          <p:cNvSpPr/>
          <p:nvPr/>
        </p:nvSpPr>
        <p:spPr>
          <a:xfrm>
            <a:off x="6492240" y="2514600"/>
            <a:ext cx="4846320" cy="777240"/>
          </a:xfrm>
          <a:prstGeom prst="roundRect">
            <a:avLst>
              <a:gd name="adj" fmla="val 8000"/>
            </a:avLst>
          </a:prstGeom>
          <a:solidFill>
            <a:srgbClr val="FFFFFF"/>
          </a:solidFill>
          <a:ln w="12700">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20840" y="2560320"/>
            <a:ext cx="1371600" cy="685800"/>
          </a:xfrm>
          <a:prstGeom prst="rect">
            <a:avLst/>
          </a:prstGeom>
          <a:noFill/>
        </p:spPr>
        <p:txBody>
          <a:bodyPr wrap="square" lIns="0" rIns="0" tIns="0" bIns="0" anchor="ctr">
            <a:spAutoFit/>
          </a:bodyPr>
          <a:lstStyle/>
          <a:p>
            <a:pPr algn="l">
              <a:spcAft>
                <a:spcPts val="0"/>
              </a:spcAft>
            </a:pPr>
            <a:r>
              <a:rPr sz="1700" b="1" i="0">
                <a:solidFill>
                  <a:srgbClr val="1C1917"/>
                </a:solidFill>
                <a:latin typeface="Calibri"/>
              </a:rPr>
              <a:t>Akash</a:t>
            </a:r>
          </a:p>
        </p:txBody>
      </p:sp>
      <p:sp>
        <p:nvSpPr>
          <p:cNvPr id="17" name="TextBox 16"/>
          <p:cNvSpPr txBox="1"/>
          <p:nvPr/>
        </p:nvSpPr>
        <p:spPr>
          <a:xfrm>
            <a:off x="8092440" y="2587752"/>
            <a:ext cx="3108960" cy="347472"/>
          </a:xfrm>
          <a:prstGeom prst="rect">
            <a:avLst/>
          </a:prstGeom>
          <a:noFill/>
        </p:spPr>
        <p:txBody>
          <a:bodyPr wrap="square" lIns="0" rIns="0" tIns="0" bIns="0" anchor="t">
            <a:spAutoFit/>
          </a:bodyPr>
          <a:lstStyle/>
          <a:p>
            <a:pPr algn="l">
              <a:spcAft>
                <a:spcPts val="0"/>
              </a:spcAft>
            </a:pPr>
            <a:r>
              <a:rPr sz="1400" b="0" i="0">
                <a:solidFill>
                  <a:srgbClr val="1C1917"/>
                </a:solidFill>
                <a:latin typeface="Calibri"/>
              </a:rPr>
              <a:t>Expert on 1 file</a:t>
            </a:r>
          </a:p>
        </p:txBody>
      </p:sp>
      <p:sp>
        <p:nvSpPr>
          <p:cNvPr id="18" name="TextBox 17"/>
          <p:cNvSpPr txBox="1"/>
          <p:nvPr/>
        </p:nvSpPr>
        <p:spPr>
          <a:xfrm>
            <a:off x="8092440" y="2907792"/>
            <a:ext cx="3108960" cy="347472"/>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inactive since 2020</a:t>
            </a:r>
          </a:p>
        </p:txBody>
      </p:sp>
      <p:sp>
        <p:nvSpPr>
          <p:cNvPr id="19" name="Rounded Rectangle 18"/>
          <p:cNvSpPr/>
          <p:nvPr/>
        </p:nvSpPr>
        <p:spPr>
          <a:xfrm>
            <a:off x="6492240" y="3474720"/>
            <a:ext cx="4846320" cy="777240"/>
          </a:xfrm>
          <a:prstGeom prst="roundRect">
            <a:avLst>
              <a:gd name="adj" fmla="val 8000"/>
            </a:avLst>
          </a:prstGeom>
          <a:solidFill>
            <a:srgbClr val="FFFFFF"/>
          </a:solidFill>
          <a:ln w="12700">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20840" y="3520439"/>
            <a:ext cx="1371600" cy="685800"/>
          </a:xfrm>
          <a:prstGeom prst="rect">
            <a:avLst/>
          </a:prstGeom>
          <a:noFill/>
        </p:spPr>
        <p:txBody>
          <a:bodyPr wrap="square" lIns="0" rIns="0" tIns="0" bIns="0" anchor="ctr">
            <a:spAutoFit/>
          </a:bodyPr>
          <a:lstStyle/>
          <a:p>
            <a:pPr algn="l">
              <a:spcAft>
                <a:spcPts val="0"/>
              </a:spcAft>
            </a:pPr>
            <a:r>
              <a:rPr sz="1700" b="1" i="0">
                <a:solidFill>
                  <a:srgbClr val="1C1917"/>
                </a:solidFill>
                <a:latin typeface="Calibri"/>
              </a:rPr>
              <a:t>Caeden</a:t>
            </a:r>
          </a:p>
        </p:txBody>
      </p:sp>
      <p:sp>
        <p:nvSpPr>
          <p:cNvPr id="21" name="TextBox 20"/>
          <p:cNvSpPr txBox="1"/>
          <p:nvPr/>
        </p:nvSpPr>
        <p:spPr>
          <a:xfrm>
            <a:off x="8092440" y="3547872"/>
            <a:ext cx="3108960" cy="347472"/>
          </a:xfrm>
          <a:prstGeom prst="rect">
            <a:avLst/>
          </a:prstGeom>
          <a:noFill/>
        </p:spPr>
        <p:txBody>
          <a:bodyPr wrap="square" lIns="0" rIns="0" tIns="0" bIns="0" anchor="t">
            <a:spAutoFit/>
          </a:bodyPr>
          <a:lstStyle/>
          <a:p>
            <a:pPr algn="l">
              <a:spcAft>
                <a:spcPts val="0"/>
              </a:spcAft>
            </a:pPr>
            <a:r>
              <a:rPr sz="1400" b="0" i="0">
                <a:solidFill>
                  <a:srgbClr val="1C1917"/>
                </a:solidFill>
                <a:latin typeface="Calibri"/>
              </a:rPr>
              <a:t>Knows the most here</a:t>
            </a:r>
          </a:p>
        </p:txBody>
      </p:sp>
      <p:sp>
        <p:nvSpPr>
          <p:cNvPr id="22" name="TextBox 21"/>
          <p:cNvSpPr txBox="1"/>
          <p:nvPr/>
        </p:nvSpPr>
        <p:spPr>
          <a:xfrm>
            <a:off x="8092440" y="3867911"/>
            <a:ext cx="3108960" cy="347472"/>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inactive since 2023</a:t>
            </a:r>
          </a:p>
        </p:txBody>
      </p:sp>
      <p:sp>
        <p:nvSpPr>
          <p:cNvPr id="23" name="Rounded Rectangle 22"/>
          <p:cNvSpPr/>
          <p:nvPr/>
        </p:nvSpPr>
        <p:spPr>
          <a:xfrm>
            <a:off x="6492240" y="4434840"/>
            <a:ext cx="4846320" cy="777240"/>
          </a:xfrm>
          <a:prstGeom prst="roundRect">
            <a:avLst>
              <a:gd name="adj" fmla="val 8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720840" y="4480559"/>
            <a:ext cx="1371600" cy="685800"/>
          </a:xfrm>
          <a:prstGeom prst="rect">
            <a:avLst/>
          </a:prstGeom>
          <a:noFill/>
        </p:spPr>
        <p:txBody>
          <a:bodyPr wrap="square" lIns="0" rIns="0" tIns="0" bIns="0" anchor="ctr">
            <a:spAutoFit/>
          </a:bodyPr>
          <a:lstStyle/>
          <a:p>
            <a:pPr algn="l">
              <a:spcAft>
                <a:spcPts val="0"/>
              </a:spcAft>
            </a:pPr>
            <a:r>
              <a:rPr sz="1700" b="1" i="0">
                <a:solidFill>
                  <a:srgbClr val="1C1917"/>
                </a:solidFill>
                <a:latin typeface="Calibri"/>
              </a:rPr>
              <a:t>Bhumika</a:t>
            </a:r>
          </a:p>
        </p:txBody>
      </p:sp>
      <p:sp>
        <p:nvSpPr>
          <p:cNvPr id="25" name="TextBox 24"/>
          <p:cNvSpPr txBox="1"/>
          <p:nvPr/>
        </p:nvSpPr>
        <p:spPr>
          <a:xfrm>
            <a:off x="8092440" y="4507992"/>
            <a:ext cx="3108960" cy="347472"/>
          </a:xfrm>
          <a:prstGeom prst="rect">
            <a:avLst/>
          </a:prstGeom>
          <a:noFill/>
        </p:spPr>
        <p:txBody>
          <a:bodyPr wrap="square" lIns="0" rIns="0" tIns="0" bIns="0" anchor="t">
            <a:spAutoFit/>
          </a:bodyPr>
          <a:lstStyle/>
          <a:p>
            <a:pPr algn="l">
              <a:spcAft>
                <a:spcPts val="0"/>
              </a:spcAft>
            </a:pPr>
            <a:r>
              <a:rPr sz="1400" b="0" i="0">
                <a:solidFill>
                  <a:srgbClr val="1C1917"/>
                </a:solidFill>
                <a:latin typeface="Calibri"/>
              </a:rPr>
              <a:t>Knows 2 of 7 files a little</a:t>
            </a:r>
          </a:p>
        </p:txBody>
      </p:sp>
      <p:sp>
        <p:nvSpPr>
          <p:cNvPr id="26" name="TextBox 25"/>
          <p:cNvSpPr txBox="1"/>
          <p:nvPr/>
        </p:nvSpPr>
        <p:spPr>
          <a:xfrm>
            <a:off x="8092440" y="4828031"/>
            <a:ext cx="3108960" cy="347472"/>
          </a:xfrm>
          <a:prstGeom prst="rect">
            <a:avLst/>
          </a:prstGeom>
          <a:noFill/>
        </p:spPr>
        <p:txBody>
          <a:bodyPr wrap="square" lIns="0" rIns="0" tIns="0" bIns="0" anchor="t">
            <a:spAutoFit/>
          </a:bodyPr>
          <a:lstStyle/>
          <a:p>
            <a:pPr algn="l">
              <a:spcAft>
                <a:spcPts val="0"/>
              </a:spcAft>
            </a:pPr>
            <a:r>
              <a:rPr sz="1400" b="1" i="0">
                <a:solidFill>
                  <a:srgbClr val="15803D"/>
                </a:solidFill>
                <a:latin typeface="Calibri"/>
              </a:rPr>
              <a:t>active, Sep 2026</a:t>
            </a:r>
          </a:p>
        </p:txBody>
      </p:sp>
      <p:sp>
        <p:nvSpPr>
          <p:cNvPr id="27" name="TextBox 26"/>
          <p:cNvSpPr txBox="1"/>
          <p:nvPr/>
        </p:nvSpPr>
        <p:spPr>
          <a:xfrm>
            <a:off x="6492240" y="5440680"/>
            <a:ext cx="4846320" cy="64008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Bhumika is picked: the best person still around, even though she isn't a full expert.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PART 2 · THE KNOWLEDGE-TRANSFER PLAN</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From diagnosis to a plan</a:t>
            </a:r>
          </a:p>
        </p:txBody>
      </p:sp>
      <p:sp>
        <p:nvSpPr>
          <p:cNvPr id="4" name="Rounded Rectangle 3"/>
          <p:cNvSpPr/>
          <p:nvPr/>
        </p:nvSpPr>
        <p:spPr>
          <a:xfrm>
            <a:off x="548640" y="1783080"/>
            <a:ext cx="3566160" cy="20116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2011680"/>
            <a:ext cx="2926080" cy="685800"/>
          </a:xfrm>
          <a:prstGeom prst="rect">
            <a:avLst/>
          </a:prstGeom>
          <a:noFill/>
        </p:spPr>
        <p:txBody>
          <a:bodyPr wrap="square" lIns="0" rIns="0" tIns="0" bIns="0" anchor="t">
            <a:spAutoFit/>
          </a:bodyPr>
          <a:lstStyle/>
          <a:p>
            <a:pPr algn="l">
              <a:spcAft>
                <a:spcPts val="0"/>
              </a:spcAft>
            </a:pPr>
            <a:r>
              <a:rPr sz="1800" b="1" i="0">
                <a:solidFill>
                  <a:srgbClr val="1C1917"/>
                </a:solidFill>
                <a:latin typeface="Arial"/>
              </a:rPr>
              <a:t>What it does</a:t>
            </a:r>
          </a:p>
        </p:txBody>
      </p:sp>
      <p:sp>
        <p:nvSpPr>
          <p:cNvPr id="6" name="TextBox 5"/>
          <p:cNvSpPr txBox="1"/>
          <p:nvPr/>
        </p:nvSpPr>
        <p:spPr>
          <a:xfrm>
            <a:off x="868680" y="2697480"/>
            <a:ext cx="2926080" cy="45720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A map of the folder</a:t>
            </a:r>
          </a:p>
        </p:txBody>
      </p:sp>
      <p:sp>
        <p:nvSpPr>
          <p:cNvPr id="7" name="TextBox 6"/>
          <p:cNvSpPr txBox="1"/>
          <p:nvPr/>
        </p:nvSpPr>
        <p:spPr>
          <a:xfrm>
            <a:off x="868680" y="3246120"/>
            <a:ext cx="2926080" cy="365760"/>
          </a:xfrm>
          <a:prstGeom prst="rect">
            <a:avLst/>
          </a:prstGeom>
          <a:noFill/>
        </p:spPr>
        <p:txBody>
          <a:bodyPr wrap="square" lIns="0" rIns="0" tIns="0" bIns="0" anchor="t">
            <a:spAutoFit/>
          </a:bodyPr>
          <a:lstStyle/>
          <a:p>
            <a:pPr algn="l">
              <a:spcAft>
                <a:spcPts val="0"/>
              </a:spcAft>
            </a:pPr>
            <a:r>
              <a:rPr sz="1400" b="1" i="0">
                <a:solidFill>
                  <a:srgbClr val="C2410C"/>
                </a:solidFill>
                <a:latin typeface="Calibri"/>
              </a:rPr>
              <a:t>For: Successor</a:t>
            </a:r>
          </a:p>
        </p:txBody>
      </p:sp>
      <p:sp>
        <p:nvSpPr>
          <p:cNvPr id="8" name="Rounded Rectangle 7"/>
          <p:cNvSpPr/>
          <p:nvPr/>
        </p:nvSpPr>
        <p:spPr>
          <a:xfrm>
            <a:off x="4297679" y="1783080"/>
            <a:ext cx="3566160" cy="20116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17719" y="2011680"/>
            <a:ext cx="2926080" cy="685800"/>
          </a:xfrm>
          <a:prstGeom prst="rect">
            <a:avLst/>
          </a:prstGeom>
          <a:noFill/>
        </p:spPr>
        <p:txBody>
          <a:bodyPr wrap="square" lIns="0" rIns="0" tIns="0" bIns="0" anchor="t">
            <a:spAutoFit/>
          </a:bodyPr>
          <a:lstStyle/>
          <a:p>
            <a:pPr algn="l">
              <a:spcAft>
                <a:spcPts val="0"/>
              </a:spcAft>
            </a:pPr>
            <a:r>
              <a:rPr sz="1800" b="1" i="0">
                <a:solidFill>
                  <a:srgbClr val="1C1917"/>
                </a:solidFill>
                <a:latin typeface="Arial"/>
              </a:rPr>
              <a:t>How to work in it</a:t>
            </a:r>
          </a:p>
        </p:txBody>
      </p:sp>
      <p:sp>
        <p:nvSpPr>
          <p:cNvPr id="10" name="TextBox 9"/>
          <p:cNvSpPr txBox="1"/>
          <p:nvPr/>
        </p:nvSpPr>
        <p:spPr>
          <a:xfrm>
            <a:off x="4617719" y="2697480"/>
            <a:ext cx="2926080" cy="45720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Main functions, linked to exact lines</a:t>
            </a:r>
          </a:p>
        </p:txBody>
      </p:sp>
      <p:sp>
        <p:nvSpPr>
          <p:cNvPr id="11" name="TextBox 10"/>
          <p:cNvSpPr txBox="1"/>
          <p:nvPr/>
        </p:nvSpPr>
        <p:spPr>
          <a:xfrm>
            <a:off x="4617719" y="3246120"/>
            <a:ext cx="2926080" cy="365760"/>
          </a:xfrm>
          <a:prstGeom prst="rect">
            <a:avLst/>
          </a:prstGeom>
          <a:noFill/>
        </p:spPr>
        <p:txBody>
          <a:bodyPr wrap="square" lIns="0" rIns="0" tIns="0" bIns="0" anchor="t">
            <a:spAutoFit/>
          </a:bodyPr>
          <a:lstStyle/>
          <a:p>
            <a:pPr algn="l">
              <a:spcAft>
                <a:spcPts val="0"/>
              </a:spcAft>
            </a:pPr>
            <a:r>
              <a:rPr sz="1400" b="1" i="0">
                <a:solidFill>
                  <a:srgbClr val="C2410C"/>
                </a:solidFill>
                <a:latin typeface="Calibri"/>
              </a:rPr>
              <a:t>For: Successor</a:t>
            </a:r>
          </a:p>
        </p:txBody>
      </p:sp>
      <p:sp>
        <p:nvSpPr>
          <p:cNvPr id="12" name="Rounded Rectangle 11"/>
          <p:cNvSpPr/>
          <p:nvPr/>
        </p:nvSpPr>
        <p:spPr>
          <a:xfrm>
            <a:off x="8046719" y="1783080"/>
            <a:ext cx="3566160" cy="20116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6759" y="2011680"/>
            <a:ext cx="2926080" cy="685800"/>
          </a:xfrm>
          <a:prstGeom prst="rect">
            <a:avLst/>
          </a:prstGeom>
          <a:noFill/>
        </p:spPr>
        <p:txBody>
          <a:bodyPr wrap="square" lIns="0" rIns="0" tIns="0" bIns="0" anchor="t">
            <a:spAutoFit/>
          </a:bodyPr>
          <a:lstStyle/>
          <a:p>
            <a:pPr algn="l">
              <a:spcAft>
                <a:spcPts val="0"/>
              </a:spcAft>
            </a:pPr>
            <a:r>
              <a:rPr sz="1800" b="1" i="0">
                <a:solidFill>
                  <a:srgbClr val="1C1917"/>
                </a:solidFill>
                <a:latin typeface="Arial"/>
              </a:rPr>
              <a:t>Rules you must not break</a:t>
            </a:r>
          </a:p>
        </p:txBody>
      </p:sp>
      <p:sp>
        <p:nvSpPr>
          <p:cNvPr id="14" name="TextBox 13"/>
          <p:cNvSpPr txBox="1"/>
          <p:nvPr/>
        </p:nvSpPr>
        <p:spPr>
          <a:xfrm>
            <a:off x="8366759" y="2697480"/>
            <a:ext cx="2926080" cy="45720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Invariants, each with proof</a:t>
            </a:r>
          </a:p>
        </p:txBody>
      </p:sp>
      <p:sp>
        <p:nvSpPr>
          <p:cNvPr id="15" name="TextBox 14"/>
          <p:cNvSpPr txBox="1"/>
          <p:nvPr/>
        </p:nvSpPr>
        <p:spPr>
          <a:xfrm>
            <a:off x="8366759" y="3246120"/>
            <a:ext cx="2926080" cy="365760"/>
          </a:xfrm>
          <a:prstGeom prst="rect">
            <a:avLst/>
          </a:prstGeom>
          <a:noFill/>
        </p:spPr>
        <p:txBody>
          <a:bodyPr wrap="square" lIns="0" rIns="0" tIns="0" bIns="0" anchor="t">
            <a:spAutoFit/>
          </a:bodyPr>
          <a:lstStyle/>
          <a:p>
            <a:pPr algn="l">
              <a:spcAft>
                <a:spcPts val="0"/>
              </a:spcAft>
            </a:pPr>
            <a:r>
              <a:rPr sz="1400" b="1" i="0">
                <a:solidFill>
                  <a:srgbClr val="C2410C"/>
                </a:solidFill>
                <a:latin typeface="Calibri"/>
              </a:rPr>
              <a:t>For: Anyone changing it</a:t>
            </a:r>
          </a:p>
        </p:txBody>
      </p:sp>
      <p:sp>
        <p:nvSpPr>
          <p:cNvPr id="16" name="Rounded Rectangle 15"/>
          <p:cNvSpPr/>
          <p:nvPr/>
        </p:nvSpPr>
        <p:spPr>
          <a:xfrm>
            <a:off x="548640" y="4023360"/>
            <a:ext cx="3566160" cy="20116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4251960"/>
            <a:ext cx="2926080" cy="685800"/>
          </a:xfrm>
          <a:prstGeom prst="rect">
            <a:avLst/>
          </a:prstGeom>
          <a:noFill/>
        </p:spPr>
        <p:txBody>
          <a:bodyPr wrap="square" lIns="0" rIns="0" tIns="0" bIns="0" anchor="t">
            <a:spAutoFit/>
          </a:bodyPr>
          <a:lstStyle/>
          <a:p>
            <a:pPr algn="l">
              <a:spcAft>
                <a:spcPts val="0"/>
              </a:spcAft>
            </a:pPr>
            <a:r>
              <a:rPr sz="1800" b="1" i="0">
                <a:solidFill>
                  <a:srgbClr val="1C1917"/>
                </a:solidFill>
                <a:latin typeface="Arial"/>
              </a:rPr>
              <a:t>Known landmines</a:t>
            </a:r>
          </a:p>
        </p:txBody>
      </p:sp>
      <p:sp>
        <p:nvSpPr>
          <p:cNvPr id="18" name="TextBox 17"/>
          <p:cNvSpPr txBox="1"/>
          <p:nvPr/>
        </p:nvSpPr>
        <p:spPr>
          <a:xfrm>
            <a:off x="868680" y="4937760"/>
            <a:ext cx="2926080" cy="45720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Past breakages and workarounds</a:t>
            </a:r>
          </a:p>
        </p:txBody>
      </p:sp>
      <p:sp>
        <p:nvSpPr>
          <p:cNvPr id="19" name="TextBox 18"/>
          <p:cNvSpPr txBox="1"/>
          <p:nvPr/>
        </p:nvSpPr>
        <p:spPr>
          <a:xfrm>
            <a:off x="868680" y="5486400"/>
            <a:ext cx="2926080" cy="365760"/>
          </a:xfrm>
          <a:prstGeom prst="rect">
            <a:avLst/>
          </a:prstGeom>
          <a:noFill/>
        </p:spPr>
        <p:txBody>
          <a:bodyPr wrap="square" lIns="0" rIns="0" tIns="0" bIns="0" anchor="t">
            <a:spAutoFit/>
          </a:bodyPr>
          <a:lstStyle/>
          <a:p>
            <a:pPr algn="l">
              <a:spcAft>
                <a:spcPts val="0"/>
              </a:spcAft>
            </a:pPr>
            <a:r>
              <a:rPr sz="1400" b="1" i="0">
                <a:solidFill>
                  <a:srgbClr val="C2410C"/>
                </a:solidFill>
                <a:latin typeface="Calibri"/>
              </a:rPr>
              <a:t>For: Anyone changing it</a:t>
            </a:r>
          </a:p>
        </p:txBody>
      </p:sp>
      <p:sp>
        <p:nvSpPr>
          <p:cNvPr id="20" name="Rounded Rectangle 19"/>
          <p:cNvSpPr/>
          <p:nvPr/>
        </p:nvSpPr>
        <p:spPr>
          <a:xfrm>
            <a:off x="4297679" y="4023360"/>
            <a:ext cx="3566160" cy="20116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617719" y="4251960"/>
            <a:ext cx="2926080" cy="685800"/>
          </a:xfrm>
          <a:prstGeom prst="rect">
            <a:avLst/>
          </a:prstGeom>
          <a:noFill/>
        </p:spPr>
        <p:txBody>
          <a:bodyPr wrap="square" lIns="0" rIns="0" tIns="0" bIns="0" anchor="t">
            <a:spAutoFit/>
          </a:bodyPr>
          <a:lstStyle/>
          <a:p>
            <a:pPr algn="l">
              <a:spcAft>
                <a:spcPts val="0"/>
              </a:spcAft>
            </a:pPr>
            <a:r>
              <a:rPr sz="1800" b="1" i="0">
                <a:solidFill>
                  <a:srgbClr val="1C1917"/>
                </a:solidFill>
                <a:latin typeface="Arial"/>
              </a:rPr>
              <a:t>Questions to ask before they leave</a:t>
            </a:r>
          </a:p>
        </p:txBody>
      </p:sp>
      <p:sp>
        <p:nvSpPr>
          <p:cNvPr id="22" name="TextBox 21"/>
          <p:cNvSpPr txBox="1"/>
          <p:nvPr/>
        </p:nvSpPr>
        <p:spPr>
          <a:xfrm>
            <a:off x="4617719" y="4937760"/>
            <a:ext cx="2926080" cy="45720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Gaps only the leaver can fill</a:t>
            </a:r>
          </a:p>
        </p:txBody>
      </p:sp>
      <p:sp>
        <p:nvSpPr>
          <p:cNvPr id="23" name="TextBox 22"/>
          <p:cNvSpPr txBox="1"/>
          <p:nvPr/>
        </p:nvSpPr>
        <p:spPr>
          <a:xfrm>
            <a:off x="4617719" y="5486400"/>
            <a:ext cx="2926080" cy="365760"/>
          </a:xfrm>
          <a:prstGeom prst="rect">
            <a:avLst/>
          </a:prstGeom>
          <a:noFill/>
        </p:spPr>
        <p:txBody>
          <a:bodyPr wrap="square" lIns="0" rIns="0" tIns="0" bIns="0" anchor="t">
            <a:spAutoFit/>
          </a:bodyPr>
          <a:lstStyle/>
          <a:p>
            <a:pPr algn="l">
              <a:spcAft>
                <a:spcPts val="0"/>
              </a:spcAft>
            </a:pPr>
            <a:r>
              <a:rPr sz="1400" b="1" i="0">
                <a:solidFill>
                  <a:srgbClr val="C2410C"/>
                </a:solidFill>
                <a:latin typeface="Calibri"/>
              </a:rPr>
              <a:t>For: Project lead</a:t>
            </a:r>
          </a:p>
        </p:txBody>
      </p:sp>
      <p:sp>
        <p:nvSpPr>
          <p:cNvPr id="24" name="Rounded Rectangle 23"/>
          <p:cNvSpPr/>
          <p:nvPr/>
        </p:nvSpPr>
        <p:spPr>
          <a:xfrm>
            <a:off x="8046719" y="4023360"/>
            <a:ext cx="3566160" cy="20116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66759" y="4251960"/>
            <a:ext cx="2926080" cy="685800"/>
          </a:xfrm>
          <a:prstGeom prst="rect">
            <a:avLst/>
          </a:prstGeom>
          <a:noFill/>
        </p:spPr>
        <p:txBody>
          <a:bodyPr wrap="square" lIns="0" rIns="0" tIns="0" bIns="0" anchor="t">
            <a:spAutoFit/>
          </a:bodyPr>
          <a:lstStyle/>
          <a:p>
            <a:pPr algn="l">
              <a:spcAft>
                <a:spcPts val="0"/>
              </a:spcAft>
            </a:pPr>
            <a:r>
              <a:rPr sz="1800" b="1" i="0">
                <a:solidFill>
                  <a:srgbClr val="1C1917"/>
                </a:solidFill>
                <a:latin typeface="Arial"/>
              </a:rPr>
              <a:t>Handoff tasks</a:t>
            </a:r>
          </a:p>
        </p:txBody>
      </p:sp>
      <p:sp>
        <p:nvSpPr>
          <p:cNvPr id="26" name="TextBox 25"/>
          <p:cNvSpPr txBox="1"/>
          <p:nvPr/>
        </p:nvSpPr>
        <p:spPr>
          <a:xfrm>
            <a:off x="8366759" y="4937760"/>
            <a:ext cx="2926080" cy="45720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Docs to write, tests to add, pairing</a:t>
            </a:r>
          </a:p>
        </p:txBody>
      </p:sp>
      <p:sp>
        <p:nvSpPr>
          <p:cNvPr id="27" name="TextBox 26"/>
          <p:cNvSpPr txBox="1"/>
          <p:nvPr/>
        </p:nvSpPr>
        <p:spPr>
          <a:xfrm>
            <a:off x="8366759" y="5486400"/>
            <a:ext cx="2926080" cy="365760"/>
          </a:xfrm>
          <a:prstGeom prst="rect">
            <a:avLst/>
          </a:prstGeom>
          <a:noFill/>
        </p:spPr>
        <p:txBody>
          <a:bodyPr wrap="square" lIns="0" rIns="0" tIns="0" bIns="0" anchor="t">
            <a:spAutoFit/>
          </a:bodyPr>
          <a:lstStyle/>
          <a:p>
            <a:pPr algn="l">
              <a:spcAft>
                <a:spcPts val="0"/>
              </a:spcAft>
            </a:pPr>
            <a:r>
              <a:rPr sz="1400" b="1" i="0">
                <a:solidFill>
                  <a:srgbClr val="C2410C"/>
                </a:solidFill>
                <a:latin typeface="Calibri"/>
              </a:rPr>
              <a:t>For: The team, as issues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PART 2 · THE KNOWLEDGE-TRANSFER PLAN</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How the AI writes the plan</a:t>
            </a:r>
          </a:p>
        </p:txBody>
      </p:sp>
      <p:sp>
        <p:nvSpPr>
          <p:cNvPr id="4" name="Oval 3"/>
          <p:cNvSpPr/>
          <p:nvPr/>
        </p:nvSpPr>
        <p:spPr>
          <a:xfrm>
            <a:off x="548640" y="178308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1</a:t>
            </a:r>
          </a:p>
        </p:txBody>
      </p:sp>
      <p:sp>
        <p:nvSpPr>
          <p:cNvPr id="5" name="Rounded Rectangle 4"/>
          <p:cNvSpPr/>
          <p:nvPr/>
        </p:nvSpPr>
        <p:spPr>
          <a:xfrm>
            <a:off x="548640" y="2468880"/>
            <a:ext cx="1965960" cy="260604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2651760"/>
            <a:ext cx="1600200" cy="640080"/>
          </a:xfrm>
          <a:prstGeom prst="rect">
            <a:avLst/>
          </a:prstGeom>
          <a:noFill/>
        </p:spPr>
        <p:txBody>
          <a:bodyPr wrap="square" lIns="0" rIns="0" tIns="0" bIns="0" anchor="t">
            <a:spAutoFit/>
          </a:bodyPr>
          <a:lstStyle/>
          <a:p>
            <a:pPr algn="l">
              <a:spcAft>
                <a:spcPts val="0"/>
              </a:spcAft>
            </a:pPr>
            <a:r>
              <a:rPr sz="1700" b="1" i="0">
                <a:solidFill>
                  <a:srgbClr val="1C1917"/>
                </a:solidFill>
                <a:latin typeface="Arial"/>
              </a:rPr>
              <a:t>Collect evidence</a:t>
            </a:r>
          </a:p>
        </p:txBody>
      </p:sp>
      <p:sp>
        <p:nvSpPr>
          <p:cNvPr id="7" name="TextBox 6"/>
          <p:cNvSpPr txBox="1"/>
          <p:nvPr/>
        </p:nvSpPr>
        <p:spPr>
          <a:xfrm>
            <a:off x="731520" y="3291840"/>
            <a:ext cx="1600200" cy="173736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Code outline, the leaver's commit messages, their TODO and HACK notes, past fixes</a:t>
            </a:r>
          </a:p>
        </p:txBody>
      </p:sp>
      <p:sp>
        <p:nvSpPr>
          <p:cNvPr id="8" name="Oval 7"/>
          <p:cNvSpPr/>
          <p:nvPr/>
        </p:nvSpPr>
        <p:spPr>
          <a:xfrm>
            <a:off x="2825496" y="178308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2</a:t>
            </a:r>
          </a:p>
        </p:txBody>
      </p:sp>
      <p:sp>
        <p:nvSpPr>
          <p:cNvPr id="9" name="Rounded Rectangle 8"/>
          <p:cNvSpPr/>
          <p:nvPr/>
        </p:nvSpPr>
        <p:spPr>
          <a:xfrm>
            <a:off x="2825496" y="2468880"/>
            <a:ext cx="1965960" cy="260604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008376" y="2651760"/>
            <a:ext cx="1600200" cy="640080"/>
          </a:xfrm>
          <a:prstGeom prst="rect">
            <a:avLst/>
          </a:prstGeom>
          <a:noFill/>
        </p:spPr>
        <p:txBody>
          <a:bodyPr wrap="square" lIns="0" rIns="0" tIns="0" bIns="0" anchor="t">
            <a:spAutoFit/>
          </a:bodyPr>
          <a:lstStyle/>
          <a:p>
            <a:pPr algn="l">
              <a:spcAft>
                <a:spcPts val="0"/>
              </a:spcAft>
            </a:pPr>
            <a:r>
              <a:rPr sz="1700" b="1" i="0">
                <a:solidFill>
                  <a:srgbClr val="1C1917"/>
                </a:solidFill>
                <a:latin typeface="Arial"/>
              </a:rPr>
              <a:t>Notes per file</a:t>
            </a:r>
          </a:p>
        </p:txBody>
      </p:sp>
      <p:sp>
        <p:nvSpPr>
          <p:cNvPr id="11" name="TextBox 10"/>
          <p:cNvSpPr txBox="1"/>
          <p:nvPr/>
        </p:nvSpPr>
        <p:spPr>
          <a:xfrm>
            <a:off x="3008376" y="3291840"/>
            <a:ext cx="1600200" cy="173736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The AI explains each risky file, citing a line or commit for every claim</a:t>
            </a:r>
          </a:p>
        </p:txBody>
      </p:sp>
      <p:sp>
        <p:nvSpPr>
          <p:cNvPr id="12" name="Oval 11"/>
          <p:cNvSpPr/>
          <p:nvPr/>
        </p:nvSpPr>
        <p:spPr>
          <a:xfrm>
            <a:off x="5102351" y="178308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3</a:t>
            </a:r>
          </a:p>
        </p:txBody>
      </p:sp>
      <p:sp>
        <p:nvSpPr>
          <p:cNvPr id="13" name="Rounded Rectangle 12"/>
          <p:cNvSpPr/>
          <p:nvPr/>
        </p:nvSpPr>
        <p:spPr>
          <a:xfrm>
            <a:off x="5102351" y="2468880"/>
            <a:ext cx="1965960" cy="2606040"/>
          </a:xfrm>
          <a:prstGeom prst="roundRect">
            <a:avLst>
              <a:gd name="adj" fmla="val 8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85231" y="2651760"/>
            <a:ext cx="1600200" cy="640080"/>
          </a:xfrm>
          <a:prstGeom prst="rect">
            <a:avLst/>
          </a:prstGeom>
          <a:noFill/>
        </p:spPr>
        <p:txBody>
          <a:bodyPr wrap="square" lIns="0" rIns="0" tIns="0" bIns="0" anchor="t">
            <a:spAutoFit/>
          </a:bodyPr>
          <a:lstStyle/>
          <a:p>
            <a:pPr algn="l">
              <a:spcAft>
                <a:spcPts val="0"/>
              </a:spcAft>
            </a:pPr>
            <a:r>
              <a:rPr sz="1700" b="1" i="0">
                <a:solidFill>
                  <a:srgbClr val="1C1917"/>
                </a:solidFill>
                <a:latin typeface="Arial"/>
              </a:rPr>
              <a:t>Fact-check</a:t>
            </a:r>
          </a:p>
        </p:txBody>
      </p:sp>
      <p:sp>
        <p:nvSpPr>
          <p:cNvPr id="15" name="TextBox 14"/>
          <p:cNvSpPr txBox="1"/>
          <p:nvPr/>
        </p:nvSpPr>
        <p:spPr>
          <a:xfrm>
            <a:off x="5285231" y="3291840"/>
            <a:ext cx="1600200" cy="173736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Plain code drops any claim whose citation wasn't in the evidence</a:t>
            </a:r>
          </a:p>
        </p:txBody>
      </p:sp>
      <p:sp>
        <p:nvSpPr>
          <p:cNvPr id="16" name="Oval 15"/>
          <p:cNvSpPr/>
          <p:nvPr/>
        </p:nvSpPr>
        <p:spPr>
          <a:xfrm>
            <a:off x="7379207" y="178308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4</a:t>
            </a:r>
          </a:p>
        </p:txBody>
      </p:sp>
      <p:sp>
        <p:nvSpPr>
          <p:cNvPr id="17" name="Rounded Rectangle 16"/>
          <p:cNvSpPr/>
          <p:nvPr/>
        </p:nvSpPr>
        <p:spPr>
          <a:xfrm>
            <a:off x="7379207" y="2468880"/>
            <a:ext cx="1965960" cy="260604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62087" y="2651760"/>
            <a:ext cx="1600200" cy="640080"/>
          </a:xfrm>
          <a:prstGeom prst="rect">
            <a:avLst/>
          </a:prstGeom>
          <a:noFill/>
        </p:spPr>
        <p:txBody>
          <a:bodyPr wrap="square" lIns="0" rIns="0" tIns="0" bIns="0" anchor="t">
            <a:spAutoFit/>
          </a:bodyPr>
          <a:lstStyle/>
          <a:p>
            <a:pPr algn="l">
              <a:spcAft>
                <a:spcPts val="0"/>
              </a:spcAft>
            </a:pPr>
            <a:r>
              <a:rPr sz="1700" b="1" i="0">
                <a:solidFill>
                  <a:srgbClr val="1C1917"/>
                </a:solidFill>
                <a:latin typeface="Arial"/>
              </a:rPr>
              <a:t>Summarise folder</a:t>
            </a:r>
          </a:p>
        </p:txBody>
      </p:sp>
      <p:sp>
        <p:nvSpPr>
          <p:cNvPr id="19" name="TextBox 18"/>
          <p:cNvSpPr txBox="1"/>
          <p:nvPr/>
        </p:nvSpPr>
        <p:spPr>
          <a:xfrm>
            <a:off x="7562087" y="3291840"/>
            <a:ext cx="1600200" cy="173736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The AI writes a summary, the key questions and tasks</a:t>
            </a:r>
          </a:p>
        </p:txBody>
      </p:sp>
      <p:sp>
        <p:nvSpPr>
          <p:cNvPr id="20" name="Oval 19"/>
          <p:cNvSpPr/>
          <p:nvPr/>
        </p:nvSpPr>
        <p:spPr>
          <a:xfrm>
            <a:off x="9656063" y="178308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5</a:t>
            </a:r>
          </a:p>
        </p:txBody>
      </p:sp>
      <p:sp>
        <p:nvSpPr>
          <p:cNvPr id="21" name="Rounded Rectangle 20"/>
          <p:cNvSpPr/>
          <p:nvPr/>
        </p:nvSpPr>
        <p:spPr>
          <a:xfrm>
            <a:off x="9656063" y="2468880"/>
            <a:ext cx="1965960" cy="260604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8943" y="2651760"/>
            <a:ext cx="1600200" cy="640080"/>
          </a:xfrm>
          <a:prstGeom prst="rect">
            <a:avLst/>
          </a:prstGeom>
          <a:noFill/>
        </p:spPr>
        <p:txBody>
          <a:bodyPr wrap="square" lIns="0" rIns="0" tIns="0" bIns="0" anchor="t">
            <a:spAutoFit/>
          </a:bodyPr>
          <a:lstStyle/>
          <a:p>
            <a:pPr algn="l">
              <a:spcAft>
                <a:spcPts val="0"/>
              </a:spcAft>
            </a:pPr>
            <a:r>
              <a:rPr sz="1700" b="1" i="0">
                <a:solidFill>
                  <a:srgbClr val="1C1917"/>
                </a:solidFill>
                <a:latin typeface="Arial"/>
              </a:rPr>
              <a:t>Assemble plan</a:t>
            </a:r>
          </a:p>
        </p:txBody>
      </p:sp>
      <p:sp>
        <p:nvSpPr>
          <p:cNvPr id="23" name="TextBox 22"/>
          <p:cNvSpPr txBox="1"/>
          <p:nvPr/>
        </p:nvSpPr>
        <p:spPr>
          <a:xfrm>
            <a:off x="9838943" y="3291840"/>
            <a:ext cx="1600200" cy="173736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Code builds the final document from checked claims only</a:t>
            </a:r>
          </a:p>
        </p:txBody>
      </p:sp>
      <p:sp>
        <p:nvSpPr>
          <p:cNvPr id="24" name="Rounded Rectangle 23"/>
          <p:cNvSpPr/>
          <p:nvPr/>
        </p:nvSpPr>
        <p:spPr>
          <a:xfrm>
            <a:off x="548640" y="5349240"/>
            <a:ext cx="11064240" cy="868680"/>
          </a:xfrm>
          <a:prstGeom prst="roundRect">
            <a:avLst>
              <a:gd name="adj" fmla="val 8000"/>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8680" y="5349240"/>
            <a:ext cx="10424160" cy="868680"/>
          </a:xfrm>
          <a:prstGeom prst="rect">
            <a:avLst/>
          </a:prstGeom>
          <a:noFill/>
        </p:spPr>
        <p:txBody>
          <a:bodyPr wrap="square" lIns="0" rIns="0" tIns="0" bIns="0" anchor="ctr">
            <a:spAutoFit/>
          </a:bodyPr>
          <a:lstStyle/>
          <a:p>
            <a:pPr algn="l">
              <a:spcAft>
                <a:spcPts val="0"/>
              </a:spcAft>
            </a:pPr>
            <a:r>
              <a:rPr sz="1600" b="1" i="0">
                <a:solidFill>
                  <a:srgbClr val="FAFAF9"/>
                </a:solidFill>
                <a:latin typeface="Calibri"/>
              </a:rPr>
              <a:t>Runs on a laptop GPU with an open model. </a:t>
            </a:r>
            <a:r>
              <a:rPr sz="1600" b="0" i="0">
                <a:solidFill>
                  <a:srgbClr val="A8A29E"/>
                </a:solidFill>
                <a:latin typeface="Calibri"/>
              </a:rPr>
              <a:t>The code never leaves the machine, it's free, and results are cached so the demo works offline.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PART 2 · THE KNOWLEDGE-TRANSFER PLAN</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Every claim must show its proof</a:t>
            </a:r>
          </a:p>
        </p:txBody>
      </p:sp>
      <p:sp>
        <p:nvSpPr>
          <p:cNvPr id="4" name="Rounded Rectangle 3"/>
          <p:cNvSpPr/>
          <p:nvPr/>
        </p:nvSpPr>
        <p:spPr>
          <a:xfrm>
            <a:off x="548640" y="1783080"/>
            <a:ext cx="6675120" cy="118872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938528"/>
            <a:ext cx="4754880" cy="457200"/>
          </a:xfrm>
          <a:prstGeom prst="rect">
            <a:avLst/>
          </a:prstGeom>
          <a:noFill/>
        </p:spPr>
        <p:txBody>
          <a:bodyPr wrap="square" lIns="0" rIns="0" tIns="0" bIns="0" anchor="t">
            <a:spAutoFit/>
          </a:bodyPr>
          <a:lstStyle/>
          <a:p>
            <a:pPr algn="l">
              <a:spcAft>
                <a:spcPts val="0"/>
              </a:spcAft>
            </a:pPr>
            <a:r>
              <a:rPr sz="1600" b="1" i="0">
                <a:solidFill>
                  <a:srgbClr val="1C1917"/>
                </a:solidFill>
                <a:latin typeface="Calibri"/>
              </a:rPr>
              <a:t>“Caching Response.text was tried and reverted”</a:t>
            </a:r>
          </a:p>
        </p:txBody>
      </p:sp>
      <p:sp>
        <p:nvSpPr>
          <p:cNvPr id="6" name="TextBox 5"/>
          <p:cNvSpPr txBox="1"/>
          <p:nvPr/>
        </p:nvSpPr>
        <p:spPr>
          <a:xfrm>
            <a:off x="868680" y="2441448"/>
            <a:ext cx="4754880" cy="41148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commit 6271046 is in the evidence</a:t>
            </a:r>
          </a:p>
        </p:txBody>
      </p:sp>
      <p:sp>
        <p:nvSpPr>
          <p:cNvPr id="7" name="Rounded Rectangle 6"/>
          <p:cNvSpPr/>
          <p:nvPr/>
        </p:nvSpPr>
        <p:spPr>
          <a:xfrm>
            <a:off x="5806440" y="2167128"/>
            <a:ext cx="1188720" cy="420624"/>
          </a:xfrm>
          <a:prstGeom prst="roundRect">
            <a:avLst>
              <a:gd name="adj" fmla="val 8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06440" y="2167128"/>
            <a:ext cx="1188720" cy="420624"/>
          </a:xfrm>
          <a:prstGeom prst="rect">
            <a:avLst/>
          </a:prstGeom>
          <a:noFill/>
        </p:spPr>
        <p:txBody>
          <a:bodyPr wrap="square" lIns="0" rIns="0" tIns="0" bIns="0" anchor="ctr">
            <a:spAutoFit/>
          </a:bodyPr>
          <a:lstStyle/>
          <a:p>
            <a:pPr algn="ctr">
              <a:spcAft>
                <a:spcPts val="0"/>
              </a:spcAft>
            </a:pPr>
            <a:r>
              <a:rPr sz="1300" b="1" i="0">
                <a:solidFill>
                  <a:srgbClr val="15803D"/>
                </a:solidFill>
                <a:latin typeface="Calibri"/>
              </a:rPr>
              <a:t>KEPT</a:t>
            </a:r>
          </a:p>
        </p:txBody>
      </p:sp>
      <p:sp>
        <p:nvSpPr>
          <p:cNvPr id="9" name="Rounded Rectangle 8"/>
          <p:cNvSpPr/>
          <p:nvPr/>
        </p:nvSpPr>
        <p:spPr>
          <a:xfrm>
            <a:off x="548640" y="3154680"/>
            <a:ext cx="6675120" cy="118872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3310128"/>
            <a:ext cx="4754880" cy="457200"/>
          </a:xfrm>
          <a:prstGeom prst="rect">
            <a:avLst/>
          </a:prstGeom>
          <a:noFill/>
        </p:spPr>
        <p:txBody>
          <a:bodyPr wrap="square" lIns="0" rIns="0" tIns="0" bIns="0" anchor="t">
            <a:spAutoFit/>
          </a:bodyPr>
          <a:lstStyle/>
          <a:p>
            <a:pPr algn="l">
              <a:spcAft>
                <a:spcPts val="0"/>
              </a:spcAft>
            </a:pPr>
            <a:r>
              <a:rPr sz="1600" b="1" i="0">
                <a:solidFill>
                  <a:srgbClr val="1C1917"/>
                </a:solidFill>
                <a:latin typeface="Calibri"/>
              </a:rPr>
              <a:t>“Request class starts at models.py line 289”</a:t>
            </a:r>
          </a:p>
        </p:txBody>
      </p:sp>
      <p:sp>
        <p:nvSpPr>
          <p:cNvPr id="11" name="TextBox 10"/>
          <p:cNvSpPr txBox="1"/>
          <p:nvPr/>
        </p:nvSpPr>
        <p:spPr>
          <a:xfrm>
            <a:off x="868680" y="3813048"/>
            <a:ext cx="4754880" cy="41148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it really starts at line 284</a:t>
            </a:r>
          </a:p>
        </p:txBody>
      </p:sp>
      <p:sp>
        <p:nvSpPr>
          <p:cNvPr id="12" name="Rounded Rectangle 11"/>
          <p:cNvSpPr/>
          <p:nvPr/>
        </p:nvSpPr>
        <p:spPr>
          <a:xfrm>
            <a:off x="5806440" y="3538728"/>
            <a:ext cx="1188720" cy="420624"/>
          </a:xfrm>
          <a:prstGeom prst="roundRect">
            <a:avLst>
              <a:gd name="adj" fmla="val 8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806440" y="3538728"/>
            <a:ext cx="1188720" cy="420624"/>
          </a:xfrm>
          <a:prstGeom prst="rect">
            <a:avLst/>
          </a:prstGeom>
          <a:noFill/>
        </p:spPr>
        <p:txBody>
          <a:bodyPr wrap="square" lIns="0" rIns="0" tIns="0" bIns="0" anchor="ctr">
            <a:spAutoFit/>
          </a:bodyPr>
          <a:lstStyle/>
          <a:p>
            <a:pPr algn="ctr">
              <a:spcAft>
                <a:spcPts val="0"/>
              </a:spcAft>
            </a:pPr>
            <a:r>
              <a:rPr sz="1300" b="1" i="0">
                <a:solidFill>
                  <a:srgbClr val="B91C1C"/>
                </a:solidFill>
                <a:latin typeface="Calibri"/>
              </a:rPr>
              <a:t>DROPPED</a:t>
            </a:r>
          </a:p>
        </p:txBody>
      </p:sp>
      <p:sp>
        <p:nvSpPr>
          <p:cNvPr id="14" name="Rounded Rectangle 13"/>
          <p:cNvSpPr/>
          <p:nvPr/>
        </p:nvSpPr>
        <p:spPr>
          <a:xfrm>
            <a:off x="548640" y="4526280"/>
            <a:ext cx="6675120" cy="118872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4681728"/>
            <a:ext cx="4754880" cy="457200"/>
          </a:xfrm>
          <a:prstGeom prst="rect">
            <a:avLst/>
          </a:prstGeom>
          <a:noFill/>
        </p:spPr>
        <p:txBody>
          <a:bodyPr wrap="square" lIns="0" rIns="0" tIns="0" bIns="0" anchor="t">
            <a:spAutoFit/>
          </a:bodyPr>
          <a:lstStyle/>
          <a:p>
            <a:pPr algn="l">
              <a:spcAft>
                <a:spcPts val="0"/>
              </a:spcAft>
            </a:pPr>
            <a:r>
              <a:rPr sz="1600" b="1" i="0">
                <a:solidFill>
                  <a:srgbClr val="1C1917"/>
                </a:solidFill>
                <a:latin typeface="Calibri"/>
              </a:rPr>
              <a:t>“Why was that caching reverted?”</a:t>
            </a:r>
          </a:p>
        </p:txBody>
      </p:sp>
      <p:sp>
        <p:nvSpPr>
          <p:cNvPr id="16" name="TextBox 15"/>
          <p:cNvSpPr txBox="1"/>
          <p:nvPr/>
        </p:nvSpPr>
        <p:spPr>
          <a:xfrm>
            <a:off x="868680" y="5184648"/>
            <a:ext cx="4754880" cy="411480"/>
          </a:xfrm>
          <a:prstGeom prst="rect">
            <a:avLst/>
          </a:prstGeom>
          <a:noFill/>
        </p:spPr>
        <p:txBody>
          <a:bodyPr wrap="square" lIns="0" rIns="0" tIns="0" bIns="0" anchor="t">
            <a:spAutoFit/>
          </a:bodyPr>
          <a:lstStyle/>
          <a:p>
            <a:pPr algn="l">
              <a:spcAft>
                <a:spcPts val="0"/>
              </a:spcAft>
            </a:pPr>
            <a:r>
              <a:rPr sz="1400" b="0" i="0">
                <a:solidFill>
                  <a:srgbClr val="57534E"/>
                </a:solidFill>
                <a:latin typeface="Calibri"/>
              </a:rPr>
              <a:t>intent isn't in the evidence, so it's a question</a:t>
            </a:r>
          </a:p>
        </p:txBody>
      </p:sp>
      <p:sp>
        <p:nvSpPr>
          <p:cNvPr id="17" name="Rounded Rectangle 16"/>
          <p:cNvSpPr/>
          <p:nvPr/>
        </p:nvSpPr>
        <p:spPr>
          <a:xfrm>
            <a:off x="5806440" y="4910328"/>
            <a:ext cx="1188720" cy="420624"/>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806440" y="4910328"/>
            <a:ext cx="1188720" cy="420624"/>
          </a:xfrm>
          <a:prstGeom prst="rect">
            <a:avLst/>
          </a:prstGeom>
          <a:noFill/>
        </p:spPr>
        <p:txBody>
          <a:bodyPr wrap="square" lIns="0" rIns="0" tIns="0" bIns="0" anchor="ctr">
            <a:spAutoFit/>
          </a:bodyPr>
          <a:lstStyle/>
          <a:p>
            <a:pPr algn="ctr">
              <a:spcAft>
                <a:spcPts val="0"/>
              </a:spcAft>
            </a:pPr>
            <a:r>
              <a:rPr sz="1300" b="1" i="0">
                <a:solidFill>
                  <a:srgbClr val="C2410C"/>
                </a:solidFill>
                <a:latin typeface="Calibri"/>
              </a:rPr>
              <a:t>ASKED</a:t>
            </a:r>
          </a:p>
        </p:txBody>
      </p:sp>
      <p:sp>
        <p:nvSpPr>
          <p:cNvPr id="19" name="Rounded Rectangle 18"/>
          <p:cNvSpPr/>
          <p:nvPr/>
        </p:nvSpPr>
        <p:spPr>
          <a:xfrm>
            <a:off x="7589520" y="1783080"/>
            <a:ext cx="4023360" cy="3931920"/>
          </a:xfrm>
          <a:prstGeom prst="roundRect">
            <a:avLst>
              <a:gd name="adj" fmla="val 8000"/>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909560" y="2057400"/>
            <a:ext cx="3474720" cy="365760"/>
          </a:xfrm>
          <a:prstGeom prst="rect">
            <a:avLst/>
          </a:prstGeom>
          <a:noFill/>
        </p:spPr>
        <p:txBody>
          <a:bodyPr wrap="square" lIns="0" rIns="0" tIns="0" bIns="0" anchor="t">
            <a:spAutoFit/>
          </a:bodyPr>
          <a:lstStyle/>
          <a:p>
            <a:pPr algn="l">
              <a:spcAft>
                <a:spcPts val="0"/>
              </a:spcAft>
            </a:pPr>
            <a:r>
              <a:rPr sz="1500" b="0" i="0">
                <a:solidFill>
                  <a:srgbClr val="A8A29E"/>
                </a:solidFill>
                <a:latin typeface="Calibri"/>
              </a:rPr>
              <a:t>On the requests demo</a:t>
            </a:r>
          </a:p>
        </p:txBody>
      </p:sp>
      <p:sp>
        <p:nvSpPr>
          <p:cNvPr id="21" name="TextBox 20"/>
          <p:cNvSpPr txBox="1"/>
          <p:nvPr/>
        </p:nvSpPr>
        <p:spPr>
          <a:xfrm>
            <a:off x="7909560" y="2514600"/>
            <a:ext cx="3474720" cy="1097280"/>
          </a:xfrm>
          <a:prstGeom prst="rect">
            <a:avLst/>
          </a:prstGeom>
          <a:noFill/>
        </p:spPr>
        <p:txBody>
          <a:bodyPr wrap="square" lIns="0" rIns="0" tIns="0" bIns="0" anchor="t">
            <a:spAutoFit/>
          </a:bodyPr>
          <a:lstStyle/>
          <a:p>
            <a:pPr algn="l">
              <a:spcAft>
                <a:spcPts val="0"/>
              </a:spcAft>
            </a:pPr>
            <a:r>
              <a:rPr sz="5600" b="1" i="0">
                <a:solidFill>
                  <a:srgbClr val="FAFAF9"/>
                </a:solidFill>
                <a:latin typeface="Arial"/>
              </a:rPr>
              <a:t>81 / 94</a:t>
            </a:r>
          </a:p>
        </p:txBody>
      </p:sp>
      <p:sp>
        <p:nvSpPr>
          <p:cNvPr id="22" name="TextBox 21"/>
          <p:cNvSpPr txBox="1"/>
          <p:nvPr/>
        </p:nvSpPr>
        <p:spPr>
          <a:xfrm>
            <a:off x="7909560" y="3611880"/>
            <a:ext cx="3474720" cy="411480"/>
          </a:xfrm>
          <a:prstGeom prst="rect">
            <a:avLst/>
          </a:prstGeom>
          <a:noFill/>
        </p:spPr>
        <p:txBody>
          <a:bodyPr wrap="square" lIns="0" rIns="0" tIns="0" bIns="0" anchor="t">
            <a:spAutoFit/>
          </a:bodyPr>
          <a:lstStyle/>
          <a:p>
            <a:pPr algn="l">
              <a:spcAft>
                <a:spcPts val="0"/>
              </a:spcAft>
            </a:pPr>
            <a:r>
              <a:rPr sz="1800" b="1" i="0">
                <a:solidFill>
                  <a:srgbClr val="C2410C"/>
                </a:solidFill>
                <a:latin typeface="Calibri"/>
              </a:rPr>
              <a:t>claims verified (86%)</a:t>
            </a:r>
          </a:p>
        </p:txBody>
      </p:sp>
      <p:sp>
        <p:nvSpPr>
          <p:cNvPr id="23" name="TextBox 22"/>
          <p:cNvSpPr txBox="1"/>
          <p:nvPr/>
        </p:nvSpPr>
        <p:spPr>
          <a:xfrm>
            <a:off x="7909560" y="4206240"/>
            <a:ext cx="3474720" cy="1371600"/>
          </a:xfrm>
          <a:prstGeom prst="rect">
            <a:avLst/>
          </a:prstGeom>
          <a:noFill/>
        </p:spPr>
        <p:txBody>
          <a:bodyPr wrap="square" lIns="0" rIns="0" tIns="0" bIns="0" anchor="t">
            <a:spAutoFit/>
          </a:bodyPr>
          <a:lstStyle/>
          <a:p>
            <a:pPr algn="l">
              <a:spcAft>
                <a:spcPts val="0"/>
              </a:spcAft>
            </a:pPr>
            <a:r>
              <a:rPr sz="1600" b="0" i="0">
                <a:solidFill>
                  <a:srgbClr val="A8A29E"/>
                </a:solidFill>
                <a:latin typeface="Calibri"/>
              </a:rPr>
              <a:t>The rest were dropped. Trust becomes a number you can measure.</a:t>
            </a:r>
          </a:p>
        </p:txBody>
      </p:sp>
      <p:sp>
        <p:nvSpPr>
          <p:cNvPr id="24" name="TextBox 23"/>
          <p:cNvSpPr txBox="1"/>
          <p:nvPr/>
        </p:nvSpPr>
        <p:spPr>
          <a:xfrm>
            <a:off x="548640" y="5943600"/>
            <a:ext cx="11064240" cy="36576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Verified means correctly cited, not guaranteed true. A human should still read the plan.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PART 2 · THE KNOWLEDGE-TRANSFER PLAN</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We picked the model by measuring</a:t>
            </a:r>
          </a:p>
        </p:txBody>
      </p:sp>
      <p:graphicFrame>
        <p:nvGraphicFramePr>
          <p:cNvPr id="4" name="Chart 3"/>
          <p:cNvGraphicFramePr>
            <a:graphicFrameLocks noGrp="1"/>
          </p:cNvGraphicFramePr>
          <p:nvPr/>
        </p:nvGraphicFramePr>
        <p:xfrm>
          <a:off x="548640" y="1783080"/>
          <a:ext cx="6035040" cy="3108960"/>
        </p:xfrm>
        <a:graphic>
          <a:graphicData uri="http://schemas.openxmlformats.org/drawingml/2006/chart">
            <c:chart xmlns:c="http://schemas.openxmlformats.org/drawingml/2006/chart" r:id="rId2"/>
          </a:graphicData>
        </a:graphic>
      </p:graphicFrame>
      <p:sp>
        <p:nvSpPr>
          <p:cNvPr id="5" name="TextBox 4"/>
          <p:cNvSpPr txBox="1"/>
          <p:nvPr/>
        </p:nvSpPr>
        <p:spPr>
          <a:xfrm>
            <a:off x="548640" y="5120640"/>
            <a:ext cx="6035040" cy="109728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Same evidence, both models. Gemma was faster but often cited the wrong line, so the checker dropped more of its claims.</a:t>
            </a:r>
          </a:p>
        </p:txBody>
      </p:sp>
      <p:sp>
        <p:nvSpPr>
          <p:cNvPr id="6" name="Rounded Rectangle 5"/>
          <p:cNvSpPr/>
          <p:nvPr/>
        </p:nvSpPr>
        <p:spPr>
          <a:xfrm>
            <a:off x="6949440" y="1783080"/>
            <a:ext cx="4663440" cy="443484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269480" y="2011680"/>
            <a:ext cx="4023360" cy="411480"/>
          </a:xfrm>
          <a:prstGeom prst="rect">
            <a:avLst/>
          </a:prstGeom>
          <a:noFill/>
        </p:spPr>
        <p:txBody>
          <a:bodyPr wrap="square" lIns="0" rIns="0" tIns="0" bIns="0" anchor="t">
            <a:spAutoFit/>
          </a:bodyPr>
          <a:lstStyle/>
          <a:p>
            <a:pPr algn="l">
              <a:spcAft>
                <a:spcPts val="0"/>
              </a:spcAft>
            </a:pPr>
            <a:r>
              <a:rPr sz="2000" b="1" i="0">
                <a:solidFill>
                  <a:srgbClr val="1C1917"/>
                </a:solidFill>
                <a:latin typeface="Arial"/>
              </a:rPr>
              <a:t>The prompt-fix story</a:t>
            </a:r>
          </a:p>
        </p:txBody>
      </p:sp>
      <p:sp>
        <p:nvSpPr>
          <p:cNvPr id="8" name="TextBox 7"/>
          <p:cNvSpPr txBox="1"/>
          <p:nvPr/>
        </p:nvSpPr>
        <p:spPr>
          <a:xfrm>
            <a:off x="7269480" y="2560320"/>
            <a:ext cx="1828800" cy="822960"/>
          </a:xfrm>
          <a:prstGeom prst="rect">
            <a:avLst/>
          </a:prstGeom>
          <a:noFill/>
        </p:spPr>
        <p:txBody>
          <a:bodyPr wrap="square" lIns="0" rIns="0" tIns="0" bIns="0" anchor="t">
            <a:spAutoFit/>
          </a:bodyPr>
          <a:lstStyle/>
          <a:p>
            <a:pPr algn="l">
              <a:spcAft>
                <a:spcPts val="0"/>
              </a:spcAft>
            </a:pPr>
            <a:r>
              <a:rPr sz="4000" b="1" i="0">
                <a:solidFill>
                  <a:srgbClr val="B91C1C"/>
                </a:solidFill>
                <a:latin typeface="Arial"/>
              </a:rPr>
              <a:t>0 / 7</a:t>
            </a:r>
          </a:p>
        </p:txBody>
      </p:sp>
      <p:sp>
        <p:nvSpPr>
          <p:cNvPr id="9" name="Right Arrow 8"/>
          <p:cNvSpPr/>
          <p:nvPr/>
        </p:nvSpPr>
        <p:spPr>
          <a:xfrm>
            <a:off x="8915400" y="2788920"/>
            <a:ext cx="457200" cy="365760"/>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555480" y="2560320"/>
            <a:ext cx="1920240" cy="822960"/>
          </a:xfrm>
          <a:prstGeom prst="rect">
            <a:avLst/>
          </a:prstGeom>
          <a:noFill/>
        </p:spPr>
        <p:txBody>
          <a:bodyPr wrap="square" lIns="0" rIns="0" tIns="0" bIns="0" anchor="t">
            <a:spAutoFit/>
          </a:bodyPr>
          <a:lstStyle/>
          <a:p>
            <a:pPr algn="l">
              <a:spcAft>
                <a:spcPts val="0"/>
              </a:spcAft>
            </a:pPr>
            <a:r>
              <a:rPr sz="4000" b="1" i="0">
                <a:solidFill>
                  <a:srgbClr val="15803D"/>
                </a:solidFill>
                <a:latin typeface="Arial"/>
              </a:rPr>
              <a:t>11 / 11</a:t>
            </a:r>
          </a:p>
        </p:txBody>
      </p:sp>
      <p:sp>
        <p:nvSpPr>
          <p:cNvPr id="11" name="TextBox 10"/>
          <p:cNvSpPr txBox="1"/>
          <p:nvPr/>
        </p:nvSpPr>
        <p:spPr>
          <a:xfrm>
            <a:off x="7269480" y="3520440"/>
            <a:ext cx="4023360" cy="256032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On the first test the model copied the placeholder “path:323” instead of the real file name, so the checker rejected everything. One prompt fix later, every claim passed. The checker caught the problem; we didn't have to notice it by eye.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USING IT</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Two ways to use Handoff</a:t>
            </a:r>
          </a:p>
        </p:txBody>
      </p:sp>
      <p:sp>
        <p:nvSpPr>
          <p:cNvPr id="4" name="Rounded Rectangle 3"/>
          <p:cNvSpPr/>
          <p:nvPr/>
        </p:nvSpPr>
        <p:spPr>
          <a:xfrm>
            <a:off x="548640" y="1783080"/>
            <a:ext cx="5440680" cy="365760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2011680"/>
            <a:ext cx="4846320" cy="411480"/>
          </a:xfrm>
          <a:prstGeom prst="rect">
            <a:avLst/>
          </a:prstGeom>
          <a:noFill/>
        </p:spPr>
        <p:txBody>
          <a:bodyPr wrap="square" lIns="0" rIns="0" tIns="0" bIns="0" anchor="t">
            <a:spAutoFit/>
          </a:bodyPr>
          <a:lstStyle/>
          <a:p>
            <a:pPr algn="l">
              <a:spcAft>
                <a:spcPts val="0"/>
              </a:spcAft>
            </a:pPr>
            <a:r>
              <a:rPr sz="2200" b="1" i="0">
                <a:solidFill>
                  <a:srgbClr val="1C1917"/>
                </a:solidFill>
                <a:latin typeface="Arial"/>
              </a:rPr>
              <a:t>Demo page</a:t>
            </a:r>
          </a:p>
        </p:txBody>
      </p:sp>
      <p:sp>
        <p:nvSpPr>
          <p:cNvPr id="6" name="TextBox 5"/>
          <p:cNvSpPr txBox="1"/>
          <p:nvPr/>
        </p:nvSpPr>
        <p:spPr>
          <a:xfrm>
            <a:off x="868680" y="2468880"/>
            <a:ext cx="4846320" cy="365760"/>
          </a:xfrm>
          <a:prstGeom prst="rect">
            <a:avLst/>
          </a:prstGeom>
          <a:noFill/>
        </p:spPr>
        <p:txBody>
          <a:bodyPr wrap="square" lIns="0" rIns="0" tIns="0" bIns="0" anchor="t">
            <a:spAutoFit/>
          </a:bodyPr>
          <a:lstStyle/>
          <a:p>
            <a:pPr algn="l">
              <a:spcAft>
                <a:spcPts val="0"/>
              </a:spcAft>
            </a:pPr>
            <a:r>
              <a:rPr sz="1500" b="1" i="0">
                <a:solidFill>
                  <a:srgbClr val="C2410C"/>
                </a:solidFill>
                <a:latin typeface="Courier New"/>
              </a:rPr>
              <a:t>handoff serve</a:t>
            </a:r>
          </a:p>
        </p:txBody>
      </p:sp>
      <p:sp>
        <p:nvSpPr>
          <p:cNvPr id="7" name="TextBox 6"/>
          <p:cNvSpPr txBox="1"/>
          <p:nvPr/>
        </p:nvSpPr>
        <p:spPr>
          <a:xfrm>
            <a:off x="868680" y="3017520"/>
            <a:ext cx="4846320" cy="3017520"/>
          </a:xfrm>
          <a:prstGeom prst="rect">
            <a:avLst/>
          </a:prstGeom>
          <a:noFill/>
        </p:spPr>
        <p:txBody>
          <a:bodyPr wrap="square" lIns="0" rIns="0" tIns="0" bIns="0" anchor="t">
            <a:spAutoFit/>
          </a:bodyPr>
          <a:lstStyle/>
          <a:p>
            <a:pPr algn="l">
              <a:spcAft>
                <a:spcPts val="1000"/>
              </a:spcAft>
            </a:pPr>
            <a:r>
              <a:rPr sz="1600" b="1" i="0">
                <a:solidFill>
                  <a:srgbClr val="C2410C"/>
                </a:solidFill>
                <a:latin typeface="Calibri"/>
              </a:rPr>
              <a:t>•  </a:t>
            </a:r>
            <a:r>
              <a:rPr sz="1600" b="0" i="0">
                <a:solidFill>
                  <a:srgbClr val="1C1917"/>
                </a:solidFill>
                <a:latin typeface="Calibri"/>
              </a:rPr>
              <a:t>Shows saved results: impact, ranked folders, KT plan</a:t>
            </a:r>
          </a:p>
          <a:p>
            <a:pPr algn="l">
              <a:spcAft>
                <a:spcPts val="1000"/>
              </a:spcAft>
            </a:pPr>
            <a:r>
              <a:rPr sz="1600" b="1" i="0">
                <a:solidFill>
                  <a:srgbClr val="C2410C"/>
                </a:solidFill>
                <a:latin typeface="Calibri"/>
              </a:rPr>
              <a:t>•  </a:t>
            </a:r>
            <a:r>
              <a:rPr sz="1600" b="0" i="0">
                <a:solidFill>
                  <a:srgbClr val="1C1917"/>
                </a:solidFill>
                <a:latin typeface="Calibri"/>
              </a:rPr>
              <a:t>Read-only, so it can never break mid-demo</a:t>
            </a:r>
          </a:p>
          <a:p>
            <a:pPr algn="l">
              <a:spcAft>
                <a:spcPts val="1000"/>
              </a:spcAft>
            </a:pPr>
            <a:r>
              <a:rPr sz="1600" b="1" i="0">
                <a:solidFill>
                  <a:srgbClr val="C2410C"/>
                </a:solidFill>
                <a:latin typeface="Calibri"/>
              </a:rPr>
              <a:t>•  </a:t>
            </a:r>
            <a:r>
              <a:rPr sz="1600" b="0" i="0">
                <a:solidFill>
                  <a:srgbClr val="1C1917"/>
                </a:solidFill>
                <a:latin typeface="Calibri"/>
              </a:rPr>
              <a:t>No GPU or AI needed: works on any laptop</a:t>
            </a:r>
          </a:p>
          <a:p>
            <a:pPr algn="l">
              <a:spcAft>
                <a:spcPts val="1000"/>
              </a:spcAft>
            </a:pPr>
            <a:r>
              <a:rPr sz="1600" b="1" i="0">
                <a:solidFill>
                  <a:srgbClr val="C2410C"/>
                </a:solidFill>
                <a:latin typeface="Calibri"/>
              </a:rPr>
              <a:t>•  </a:t>
            </a:r>
            <a:r>
              <a:rPr sz="1600" b="0" i="0">
                <a:solidFill>
                  <a:srgbClr val="1C1917"/>
                </a:solidFill>
                <a:latin typeface="Calibri"/>
              </a:rPr>
              <a:t>Clickable citations open the exact line on GitHub</a:t>
            </a:r>
          </a:p>
        </p:txBody>
      </p:sp>
      <p:sp>
        <p:nvSpPr>
          <p:cNvPr id="8" name="Rounded Rectangle 7"/>
          <p:cNvSpPr/>
          <p:nvPr/>
        </p:nvSpPr>
        <p:spPr>
          <a:xfrm>
            <a:off x="6172200" y="1783080"/>
            <a:ext cx="5440680" cy="3657600"/>
          </a:xfrm>
          <a:prstGeom prst="roundRect">
            <a:avLst>
              <a:gd name="adj" fmla="val 8000"/>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92240" y="2011680"/>
            <a:ext cx="4846320" cy="411480"/>
          </a:xfrm>
          <a:prstGeom prst="rect">
            <a:avLst/>
          </a:prstGeom>
          <a:noFill/>
        </p:spPr>
        <p:txBody>
          <a:bodyPr wrap="square" lIns="0" rIns="0" tIns="0" bIns="0" anchor="t">
            <a:spAutoFit/>
          </a:bodyPr>
          <a:lstStyle/>
          <a:p>
            <a:pPr algn="l">
              <a:spcAft>
                <a:spcPts val="0"/>
              </a:spcAft>
            </a:pPr>
            <a:r>
              <a:rPr sz="2200" b="1" i="0">
                <a:solidFill>
                  <a:srgbClr val="FAFAF9"/>
                </a:solidFill>
                <a:latin typeface="Arial"/>
              </a:rPr>
              <a:t>Handoff Studio</a:t>
            </a:r>
          </a:p>
        </p:txBody>
      </p:sp>
      <p:sp>
        <p:nvSpPr>
          <p:cNvPr id="10" name="TextBox 9"/>
          <p:cNvSpPr txBox="1"/>
          <p:nvPr/>
        </p:nvSpPr>
        <p:spPr>
          <a:xfrm>
            <a:off x="6492240" y="2468880"/>
            <a:ext cx="4846320" cy="365760"/>
          </a:xfrm>
          <a:prstGeom prst="rect">
            <a:avLst/>
          </a:prstGeom>
          <a:noFill/>
        </p:spPr>
        <p:txBody>
          <a:bodyPr wrap="square" lIns="0" rIns="0" tIns="0" bIns="0" anchor="t">
            <a:spAutoFit/>
          </a:bodyPr>
          <a:lstStyle/>
          <a:p>
            <a:pPr algn="l">
              <a:spcAft>
                <a:spcPts val="0"/>
              </a:spcAft>
            </a:pPr>
            <a:r>
              <a:rPr sz="1500" b="1" i="0">
                <a:solidFill>
                  <a:srgbClr val="C2410C"/>
                </a:solidFill>
                <a:latin typeface="Courier New"/>
              </a:rPr>
              <a:t>python -m handoff.studio</a:t>
            </a:r>
          </a:p>
        </p:txBody>
      </p:sp>
      <p:sp>
        <p:nvSpPr>
          <p:cNvPr id="11" name="TextBox 10"/>
          <p:cNvSpPr txBox="1"/>
          <p:nvPr/>
        </p:nvSpPr>
        <p:spPr>
          <a:xfrm>
            <a:off x="6492240" y="3017520"/>
            <a:ext cx="4846320" cy="3017520"/>
          </a:xfrm>
          <a:prstGeom prst="rect">
            <a:avLst/>
          </a:prstGeom>
          <a:noFill/>
        </p:spPr>
        <p:txBody>
          <a:bodyPr wrap="square" lIns="0" rIns="0" tIns="0" bIns="0" anchor="t">
            <a:spAutoFit/>
          </a:bodyPr>
          <a:lstStyle/>
          <a:p>
            <a:pPr algn="l">
              <a:spcAft>
                <a:spcPts val="1000"/>
              </a:spcAft>
            </a:pPr>
            <a:r>
              <a:rPr sz="1600" b="1" i="0">
                <a:solidFill>
                  <a:srgbClr val="C2410C"/>
                </a:solidFill>
                <a:latin typeface="Calibri"/>
              </a:rPr>
              <a:t>•  </a:t>
            </a:r>
            <a:r>
              <a:rPr sz="1600" b="0" i="0">
                <a:solidFill>
                  <a:srgbClr val="FAFAF9"/>
                </a:solidFill>
                <a:latin typeface="Calibri"/>
              </a:rPr>
              <a:t>Paste any GitHub URL: it clones and analyses</a:t>
            </a:r>
          </a:p>
          <a:p>
            <a:pPr algn="l">
              <a:spcAft>
                <a:spcPts val="1000"/>
              </a:spcAft>
            </a:pPr>
            <a:r>
              <a:rPr sz="1600" b="1" i="0">
                <a:solidFill>
                  <a:srgbClr val="C2410C"/>
                </a:solidFill>
                <a:latin typeface="Calibri"/>
              </a:rPr>
              <a:t>•  </a:t>
            </a:r>
            <a:r>
              <a:rPr sz="1600" b="0" i="0">
                <a:solidFill>
                  <a:srgbClr val="FAFAF9"/>
                </a:solidFill>
                <a:latin typeface="Calibri"/>
              </a:rPr>
              <a:t>Pick who leaves, then see the impact instantly</a:t>
            </a:r>
          </a:p>
          <a:p>
            <a:pPr algn="l">
              <a:spcAft>
                <a:spcPts val="1000"/>
              </a:spcAft>
            </a:pPr>
            <a:r>
              <a:rPr sz="1600" b="1" i="0">
                <a:solidFill>
                  <a:srgbClr val="C2410C"/>
                </a:solidFill>
                <a:latin typeface="Calibri"/>
              </a:rPr>
              <a:t>•  </a:t>
            </a:r>
            <a:r>
              <a:rPr sz="1600" b="0" i="0">
                <a:solidFill>
                  <a:srgbClr val="FAFAF9"/>
                </a:solidFill>
                <a:latin typeface="Calibri"/>
              </a:rPr>
              <a:t>Generate the plan with a live progress bar</a:t>
            </a:r>
          </a:p>
          <a:p>
            <a:pPr algn="l">
              <a:spcAft>
                <a:spcPts val="1000"/>
              </a:spcAft>
            </a:pPr>
            <a:r>
              <a:rPr sz="1600" b="1" i="0">
                <a:solidFill>
                  <a:srgbClr val="C2410C"/>
                </a:solidFill>
                <a:latin typeface="Calibri"/>
              </a:rPr>
              <a:t>•  </a:t>
            </a:r>
            <a:r>
              <a:rPr sz="1600" b="0" i="0">
                <a:solidFill>
                  <a:srgbClr val="FAFAF9"/>
                </a:solidFill>
                <a:latin typeface="Calibri"/>
              </a:rPr>
              <a:t>Top 5 / 10 / all files per folder; Stop and resume</a:t>
            </a:r>
          </a:p>
          <a:p>
            <a:pPr algn="l">
              <a:spcAft>
                <a:spcPts val="1000"/>
              </a:spcAft>
            </a:pPr>
            <a:r>
              <a:rPr sz="1600" b="1" i="0">
                <a:solidFill>
                  <a:srgbClr val="C2410C"/>
                </a:solidFill>
                <a:latin typeface="Calibri"/>
              </a:rPr>
              <a:t>•  </a:t>
            </a:r>
            <a:r>
              <a:rPr sz="1600" b="0" i="0">
                <a:solidFill>
                  <a:srgbClr val="FAFAF9"/>
                </a:solidFill>
                <a:latin typeface="Calibri"/>
              </a:rPr>
              <a:t>Delete runs; active vs inactive people marked</a:t>
            </a:r>
          </a:p>
        </p:txBody>
      </p:sp>
      <p:sp>
        <p:nvSpPr>
          <p:cNvPr id="12" name="TextBox 11"/>
          <p:cNvSpPr txBox="1"/>
          <p:nvPr/>
        </p:nvSpPr>
        <p:spPr>
          <a:xfrm>
            <a:off x="548640" y="5715000"/>
            <a:ext cx="11064240" cy="457200"/>
          </a:xfrm>
          <a:prstGeom prst="rect">
            <a:avLst/>
          </a:prstGeom>
          <a:noFill/>
        </p:spPr>
        <p:txBody>
          <a:bodyPr wrap="square" lIns="0" rIns="0" tIns="0" bIns="0" anchor="t">
            <a:spAutoFit/>
          </a:bodyPr>
          <a:lstStyle/>
          <a:p>
            <a:pPr algn="l">
              <a:spcAft>
                <a:spcPts val="0"/>
              </a:spcAft>
            </a:pPr>
            <a:r>
              <a:rPr sz="1500" b="0" i="0">
                <a:solidFill>
                  <a:srgbClr val="57534E"/>
                </a:solidFill>
                <a:latin typeface="Calibri"/>
              </a:rPr>
              <a:t>Both show the same views. The Studio adds running new repos, which needs the GPU.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BEING HONEST</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What comes from research, and what's our choice</a:t>
            </a:r>
          </a:p>
        </p:txBody>
      </p:sp>
      <p:sp>
        <p:nvSpPr>
          <p:cNvPr id="4" name="Rounded Rectangle 3"/>
          <p:cNvSpPr/>
          <p:nvPr/>
        </p:nvSpPr>
        <p:spPr>
          <a:xfrm>
            <a:off x="548640" y="1783080"/>
            <a:ext cx="5440680" cy="3017520"/>
          </a:xfrm>
          <a:prstGeom prst="roundRect">
            <a:avLst>
              <a:gd name="adj" fmla="val 8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2011680"/>
            <a:ext cx="4846320" cy="411480"/>
          </a:xfrm>
          <a:prstGeom prst="rect">
            <a:avLst/>
          </a:prstGeom>
          <a:noFill/>
        </p:spPr>
        <p:txBody>
          <a:bodyPr wrap="square" lIns="0" rIns="0" tIns="0" bIns="0" anchor="t">
            <a:spAutoFit/>
          </a:bodyPr>
          <a:lstStyle/>
          <a:p>
            <a:pPr algn="l">
              <a:spcAft>
                <a:spcPts val="0"/>
              </a:spcAft>
            </a:pPr>
            <a:r>
              <a:rPr sz="2000" b="1" i="0">
                <a:solidFill>
                  <a:srgbClr val="15803D"/>
                </a:solidFill>
                <a:latin typeface="Arial"/>
              </a:rPr>
              <a:t>From published research</a:t>
            </a:r>
          </a:p>
        </p:txBody>
      </p:sp>
      <p:sp>
        <p:nvSpPr>
          <p:cNvPr id="6" name="TextBox 5"/>
          <p:cNvSpPr txBox="1"/>
          <p:nvPr/>
        </p:nvSpPr>
        <p:spPr>
          <a:xfrm>
            <a:off x="868680" y="2606040"/>
            <a:ext cx="4846320" cy="2926080"/>
          </a:xfrm>
          <a:prstGeom prst="rect">
            <a:avLst/>
          </a:prstGeom>
          <a:noFill/>
        </p:spPr>
        <p:txBody>
          <a:bodyPr wrap="square" lIns="0" rIns="0" tIns="0" bIns="0" anchor="t">
            <a:spAutoFit/>
          </a:bodyPr>
          <a:lstStyle/>
          <a:p>
            <a:pPr algn="l">
              <a:spcAft>
                <a:spcPts val="1200"/>
              </a:spcAft>
            </a:pPr>
            <a:r>
              <a:rPr sz="1700" b="1" i="0">
                <a:solidFill>
                  <a:srgbClr val="15803D"/>
                </a:solidFill>
                <a:latin typeface="Calibri"/>
              </a:rPr>
              <a:t>•  </a:t>
            </a:r>
            <a:r>
              <a:rPr sz="1700" b="0" i="0">
                <a:solidFill>
                  <a:srgbClr val="1C1917"/>
                </a:solidFill>
                <a:latin typeface="Calibri"/>
              </a:rPr>
              <a:t>The authorship score (Degree of Authorship)</a:t>
            </a:r>
          </a:p>
          <a:p>
            <a:pPr algn="l">
              <a:spcAft>
                <a:spcPts val="1200"/>
              </a:spcAft>
            </a:pPr>
            <a:r>
              <a:rPr sz="1700" b="1" i="0">
                <a:solidFill>
                  <a:srgbClr val="15803D"/>
                </a:solidFill>
                <a:latin typeface="Calibri"/>
              </a:rPr>
              <a:t>•  </a:t>
            </a:r>
            <a:r>
              <a:rPr sz="1700" b="0" i="0">
                <a:solidFill>
                  <a:srgbClr val="1C1917"/>
                </a:solidFill>
                <a:latin typeface="Calibri"/>
              </a:rPr>
              <a:t>Who counts as an author (the thresholds)</a:t>
            </a:r>
          </a:p>
          <a:p>
            <a:pPr algn="l">
              <a:spcAft>
                <a:spcPts val="1200"/>
              </a:spcAft>
            </a:pPr>
            <a:r>
              <a:rPr sz="1700" b="1" i="0">
                <a:solidFill>
                  <a:srgbClr val="15803D"/>
                </a:solidFill>
                <a:latin typeface="Calibri"/>
              </a:rPr>
              <a:t>•  </a:t>
            </a:r>
            <a:r>
              <a:rPr sz="1700" b="0" i="0">
                <a:solidFill>
                  <a:srgbClr val="1C1917"/>
                </a:solidFill>
                <a:latin typeface="Calibri"/>
              </a:rPr>
              <a:t>The truck-factor method, checked on real projects</a:t>
            </a:r>
          </a:p>
        </p:txBody>
      </p:sp>
      <p:sp>
        <p:nvSpPr>
          <p:cNvPr id="7" name="Rounded Rectangle 6"/>
          <p:cNvSpPr/>
          <p:nvPr/>
        </p:nvSpPr>
        <p:spPr>
          <a:xfrm>
            <a:off x="6172200" y="1783080"/>
            <a:ext cx="5440680" cy="3017520"/>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92240" y="2011680"/>
            <a:ext cx="4846320" cy="411480"/>
          </a:xfrm>
          <a:prstGeom prst="rect">
            <a:avLst/>
          </a:prstGeom>
          <a:noFill/>
        </p:spPr>
        <p:txBody>
          <a:bodyPr wrap="square" lIns="0" rIns="0" tIns="0" bIns="0" anchor="t">
            <a:spAutoFit/>
          </a:bodyPr>
          <a:lstStyle/>
          <a:p>
            <a:pPr algn="l">
              <a:spcAft>
                <a:spcPts val="0"/>
              </a:spcAft>
            </a:pPr>
            <a:r>
              <a:rPr sz="2000" b="1" i="0">
                <a:solidFill>
                  <a:srgbClr val="C2410C"/>
                </a:solidFill>
                <a:latin typeface="Arial"/>
              </a:rPr>
              <a:t>Our documented choices</a:t>
            </a:r>
          </a:p>
        </p:txBody>
      </p:sp>
      <p:sp>
        <p:nvSpPr>
          <p:cNvPr id="9" name="TextBox 8"/>
          <p:cNvSpPr txBox="1"/>
          <p:nvPr/>
        </p:nvSpPr>
        <p:spPr>
          <a:xfrm>
            <a:off x="6492240" y="2606040"/>
            <a:ext cx="4846320" cy="2926080"/>
          </a:xfrm>
          <a:prstGeom prst="rect">
            <a:avLst/>
          </a:prstGeom>
          <a:noFill/>
        </p:spPr>
        <p:txBody>
          <a:bodyPr wrap="square" lIns="0" rIns="0" tIns="0" bIns="0" anchor="t">
            <a:spAutoFit/>
          </a:bodyPr>
          <a:lstStyle/>
          <a:p>
            <a:pPr algn="l">
              <a:spcAft>
                <a:spcPts val="1200"/>
              </a:spcAft>
            </a:pPr>
            <a:r>
              <a:rPr sz="1700" b="1" i="0">
                <a:solidFill>
                  <a:srgbClr val="C2410C"/>
                </a:solidFill>
                <a:latin typeface="Calibri"/>
              </a:rPr>
              <a:t>•  </a:t>
            </a:r>
            <a:r>
              <a:rPr sz="1700" b="0" i="0">
                <a:solidFill>
                  <a:srgbClr val="1C1917"/>
                </a:solidFill>
                <a:latin typeface="Calibri"/>
              </a:rPr>
              <a:t>Importance weights (40 / 40 / 20)</a:t>
            </a:r>
          </a:p>
          <a:p>
            <a:pPr algn="l">
              <a:spcAft>
                <a:spcPts val="1200"/>
              </a:spcAft>
            </a:pPr>
            <a:r>
              <a:rPr sz="1700" b="1" i="0">
                <a:solidFill>
                  <a:srgbClr val="C2410C"/>
                </a:solidFill>
                <a:latin typeface="Calibri"/>
              </a:rPr>
              <a:t>•  </a:t>
            </a:r>
            <a:r>
              <a:rPr sz="1700" b="0" i="0">
                <a:solidFill>
                  <a:srgbClr val="1C1917"/>
                </a:solidFill>
                <a:latin typeface="Calibri"/>
              </a:rPr>
              <a:t>Folder risk (orphaned files count fully, at-risk half)</a:t>
            </a:r>
          </a:p>
          <a:p>
            <a:pPr algn="l">
              <a:spcAft>
                <a:spcPts val="1200"/>
              </a:spcAft>
            </a:pPr>
            <a:r>
              <a:rPr sz="1700" b="1" i="0">
                <a:solidFill>
                  <a:srgbClr val="C2410C"/>
                </a:solidFill>
                <a:latin typeface="Calibri"/>
              </a:rPr>
              <a:t>•  </a:t>
            </a:r>
            <a:r>
              <a:rPr sz="1700" b="0" i="0">
                <a:solidFill>
                  <a:srgbClr val="1C1917"/>
                </a:solidFill>
                <a:latin typeface="Calibri"/>
              </a:rPr>
              <a:t>The successor rule (12-month activity window)</a:t>
            </a:r>
          </a:p>
          <a:p>
            <a:pPr algn="l">
              <a:spcAft>
                <a:spcPts val="1200"/>
              </a:spcAft>
            </a:pPr>
            <a:r>
              <a:rPr sz="1700" b="1" i="0">
                <a:solidFill>
                  <a:srgbClr val="C2410C"/>
                </a:solidFill>
                <a:latin typeface="Calibri"/>
              </a:rPr>
              <a:t>•  </a:t>
            </a:r>
            <a:r>
              <a:rPr sz="1700" b="0" i="0">
                <a:solidFill>
                  <a:srgbClr val="1C1917"/>
                </a:solidFill>
                <a:latin typeface="Calibri"/>
              </a:rPr>
              <a:t>Filters: bots, commits touching 100+ files</a:t>
            </a:r>
          </a:p>
        </p:txBody>
      </p:sp>
      <p:sp>
        <p:nvSpPr>
          <p:cNvPr id="10" name="Rounded Rectangle 9"/>
          <p:cNvSpPr/>
          <p:nvPr/>
        </p:nvSpPr>
        <p:spPr>
          <a:xfrm>
            <a:off x="548640" y="5074920"/>
            <a:ext cx="11064240" cy="1097280"/>
          </a:xfrm>
          <a:prstGeom prst="roundRect">
            <a:avLst>
              <a:gd name="adj" fmla="val 8000"/>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8680" y="5074920"/>
            <a:ext cx="10424160" cy="1097280"/>
          </a:xfrm>
          <a:prstGeom prst="rect">
            <a:avLst/>
          </a:prstGeom>
          <a:noFill/>
        </p:spPr>
        <p:txBody>
          <a:bodyPr wrap="square" lIns="0" rIns="0" tIns="0" bIns="0" anchor="ctr">
            <a:spAutoFit/>
          </a:bodyPr>
          <a:lstStyle/>
          <a:p>
            <a:pPr algn="l">
              <a:spcAft>
                <a:spcPts val="0"/>
              </a:spcAft>
            </a:pPr>
            <a:r>
              <a:rPr sz="1700" b="1" i="0">
                <a:solidFill>
                  <a:srgbClr val="C2410C"/>
                </a:solidFill>
                <a:latin typeface="Calibri"/>
              </a:rPr>
              <a:t>How to say it: </a:t>
            </a:r>
            <a:r>
              <a:rPr sz="1700" b="0" i="0">
                <a:solidFill>
                  <a:srgbClr val="FAFAF9"/>
                </a:solidFill>
                <a:latin typeface="Calibri"/>
              </a:rPr>
              <a:t>“Who knows what comes from research. Ranking what matters is our simple, documented heuristic.”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BEING HONEST</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What it can't see, and says so</a:t>
            </a:r>
          </a:p>
        </p:txBody>
      </p:sp>
      <p:sp>
        <p:nvSpPr>
          <p:cNvPr id="4" name="Rounded Rectangle 3"/>
          <p:cNvSpPr/>
          <p:nvPr/>
        </p:nvSpPr>
        <p:spPr>
          <a:xfrm>
            <a:off x="548640" y="1783080"/>
            <a:ext cx="5440680" cy="196596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2057400"/>
            <a:ext cx="457200" cy="457200"/>
          </a:xfrm>
          <a:prstGeom prst="ellipse">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C2410C"/>
                </a:solidFill>
                <a:latin typeface="Arial"/>
              </a:rPr>
              <a:t>!</a:t>
            </a:r>
          </a:p>
        </p:txBody>
      </p:sp>
      <p:sp>
        <p:nvSpPr>
          <p:cNvPr id="6" name="TextBox 5"/>
          <p:cNvSpPr txBox="1"/>
          <p:nvPr/>
        </p:nvSpPr>
        <p:spPr>
          <a:xfrm>
            <a:off x="1508760" y="2075688"/>
            <a:ext cx="4206240" cy="411480"/>
          </a:xfrm>
          <a:prstGeom prst="rect">
            <a:avLst/>
          </a:prstGeom>
          <a:noFill/>
        </p:spPr>
        <p:txBody>
          <a:bodyPr wrap="square" lIns="0" rIns="0" tIns="0" bIns="0" anchor="t">
            <a:spAutoFit/>
          </a:bodyPr>
          <a:lstStyle/>
          <a:p>
            <a:pPr algn="l">
              <a:spcAft>
                <a:spcPts val="0"/>
              </a:spcAft>
            </a:pPr>
            <a:r>
              <a:rPr sz="1900" b="1" i="0">
                <a:solidFill>
                  <a:srgbClr val="1C1917"/>
                </a:solidFill>
                <a:latin typeface="Arial"/>
              </a:rPr>
              <a:t>History isn't understanding</a:t>
            </a:r>
          </a:p>
        </p:txBody>
      </p:sp>
      <p:sp>
        <p:nvSpPr>
          <p:cNvPr id="7" name="TextBox 6"/>
          <p:cNvSpPr txBox="1"/>
          <p:nvPr/>
        </p:nvSpPr>
        <p:spPr>
          <a:xfrm>
            <a:off x="1508760" y="2560320"/>
            <a:ext cx="4206240" cy="1097280"/>
          </a:xfrm>
          <a:prstGeom prst="rect">
            <a:avLst/>
          </a:prstGeom>
          <a:noFill/>
        </p:spPr>
        <p:txBody>
          <a:bodyPr wrap="square" lIns="0" rIns="0" tIns="0" bIns="0" anchor="t">
            <a:spAutoFit/>
          </a:bodyPr>
          <a:lstStyle/>
          <a:p>
            <a:pPr algn="l">
              <a:spcAft>
                <a:spcPts val="0"/>
              </a:spcAft>
            </a:pPr>
            <a:r>
              <a:rPr sz="1600" b="0" i="0">
                <a:solidFill>
                  <a:srgbClr val="57534E"/>
                </a:solidFill>
                <a:latin typeface="Calibri"/>
              </a:rPr>
              <a:t>Pair programming, reviews and chats are invisible. Scores are an estimate.</a:t>
            </a:r>
          </a:p>
        </p:txBody>
      </p:sp>
      <p:sp>
        <p:nvSpPr>
          <p:cNvPr id="8" name="Rounded Rectangle 7"/>
          <p:cNvSpPr/>
          <p:nvPr/>
        </p:nvSpPr>
        <p:spPr>
          <a:xfrm>
            <a:off x="6172200" y="1783080"/>
            <a:ext cx="5440680" cy="196596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92240" y="2057400"/>
            <a:ext cx="457200" cy="457200"/>
          </a:xfrm>
          <a:prstGeom prst="ellipse">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C2410C"/>
                </a:solidFill>
                <a:latin typeface="Arial"/>
              </a:rPr>
              <a:t>!</a:t>
            </a:r>
          </a:p>
        </p:txBody>
      </p:sp>
      <p:sp>
        <p:nvSpPr>
          <p:cNvPr id="10" name="TextBox 9"/>
          <p:cNvSpPr txBox="1"/>
          <p:nvPr/>
        </p:nvSpPr>
        <p:spPr>
          <a:xfrm>
            <a:off x="7132320" y="2075688"/>
            <a:ext cx="4206240" cy="411480"/>
          </a:xfrm>
          <a:prstGeom prst="rect">
            <a:avLst/>
          </a:prstGeom>
          <a:noFill/>
        </p:spPr>
        <p:txBody>
          <a:bodyPr wrap="square" lIns="0" rIns="0" tIns="0" bIns="0" anchor="t">
            <a:spAutoFit/>
          </a:bodyPr>
          <a:lstStyle/>
          <a:p>
            <a:pPr algn="l">
              <a:spcAft>
                <a:spcPts val="0"/>
              </a:spcAft>
            </a:pPr>
            <a:r>
              <a:rPr sz="1900" b="1" i="0">
                <a:solidFill>
                  <a:srgbClr val="1C1917"/>
                </a:solidFill>
                <a:latin typeface="Arial"/>
              </a:rPr>
              <a:t>Verified isn't true</a:t>
            </a:r>
          </a:p>
        </p:txBody>
      </p:sp>
      <p:sp>
        <p:nvSpPr>
          <p:cNvPr id="11" name="TextBox 10"/>
          <p:cNvSpPr txBox="1"/>
          <p:nvPr/>
        </p:nvSpPr>
        <p:spPr>
          <a:xfrm>
            <a:off x="7132320" y="2560320"/>
            <a:ext cx="4206240" cy="1097280"/>
          </a:xfrm>
          <a:prstGeom prst="rect">
            <a:avLst/>
          </a:prstGeom>
          <a:noFill/>
        </p:spPr>
        <p:txBody>
          <a:bodyPr wrap="square" lIns="0" rIns="0" tIns="0" bIns="0" anchor="t">
            <a:spAutoFit/>
          </a:bodyPr>
          <a:lstStyle/>
          <a:p>
            <a:pPr algn="l">
              <a:spcAft>
                <a:spcPts val="0"/>
              </a:spcAft>
            </a:pPr>
            <a:r>
              <a:rPr sz="1600" b="0" i="0">
                <a:solidFill>
                  <a:srgbClr val="57534E"/>
                </a:solidFill>
                <a:latin typeface="Calibri"/>
              </a:rPr>
              <a:t>The checker proves a citation is real, not that the sentence about it is right.</a:t>
            </a:r>
          </a:p>
        </p:txBody>
      </p:sp>
      <p:sp>
        <p:nvSpPr>
          <p:cNvPr id="12" name="Rounded Rectangle 11"/>
          <p:cNvSpPr/>
          <p:nvPr/>
        </p:nvSpPr>
        <p:spPr>
          <a:xfrm>
            <a:off x="548640" y="3977639"/>
            <a:ext cx="5440680" cy="196596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68680" y="4251959"/>
            <a:ext cx="457200" cy="457200"/>
          </a:xfrm>
          <a:prstGeom prst="ellipse">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C2410C"/>
                </a:solidFill>
                <a:latin typeface="Arial"/>
              </a:rPr>
              <a:t>!</a:t>
            </a:r>
          </a:p>
        </p:txBody>
      </p:sp>
      <p:sp>
        <p:nvSpPr>
          <p:cNvPr id="14" name="TextBox 13"/>
          <p:cNvSpPr txBox="1"/>
          <p:nvPr/>
        </p:nvSpPr>
        <p:spPr>
          <a:xfrm>
            <a:off x="1508760" y="4270248"/>
            <a:ext cx="4206240" cy="411480"/>
          </a:xfrm>
          <a:prstGeom prst="rect">
            <a:avLst/>
          </a:prstGeom>
          <a:noFill/>
        </p:spPr>
        <p:txBody>
          <a:bodyPr wrap="square" lIns="0" rIns="0" tIns="0" bIns="0" anchor="t">
            <a:spAutoFit/>
          </a:bodyPr>
          <a:lstStyle/>
          <a:p>
            <a:pPr algn="l">
              <a:spcAft>
                <a:spcPts val="0"/>
              </a:spcAft>
            </a:pPr>
            <a:r>
              <a:rPr sz="1900" b="1" i="0">
                <a:solidFill>
                  <a:srgbClr val="1C1917"/>
                </a:solidFill>
                <a:latin typeface="Arial"/>
              </a:rPr>
              <a:t>Python gets the most detail</a:t>
            </a:r>
          </a:p>
        </p:txBody>
      </p:sp>
      <p:sp>
        <p:nvSpPr>
          <p:cNvPr id="15" name="TextBox 14"/>
          <p:cNvSpPr txBox="1"/>
          <p:nvPr/>
        </p:nvSpPr>
        <p:spPr>
          <a:xfrm>
            <a:off x="1508760" y="4754879"/>
            <a:ext cx="4206240" cy="1097280"/>
          </a:xfrm>
          <a:prstGeom prst="rect">
            <a:avLst/>
          </a:prstGeom>
          <a:noFill/>
        </p:spPr>
        <p:txBody>
          <a:bodyPr wrap="square" lIns="0" rIns="0" tIns="0" bIns="0" anchor="t">
            <a:spAutoFit/>
          </a:bodyPr>
          <a:lstStyle/>
          <a:p>
            <a:pPr algn="l">
              <a:spcAft>
                <a:spcPts val="0"/>
              </a:spcAft>
            </a:pPr>
            <a:r>
              <a:rPr sz="1600" b="0" i="0">
                <a:solidFill>
                  <a:srgbClr val="57534E"/>
                </a:solidFill>
                <a:latin typeface="Calibri"/>
              </a:rPr>
              <a:t>Other languages work, with a rougher code outline and no fan-in.</a:t>
            </a:r>
          </a:p>
        </p:txBody>
      </p:sp>
      <p:sp>
        <p:nvSpPr>
          <p:cNvPr id="16" name="Rounded Rectangle 15"/>
          <p:cNvSpPr/>
          <p:nvPr/>
        </p:nvSpPr>
        <p:spPr>
          <a:xfrm>
            <a:off x="6172200" y="3977639"/>
            <a:ext cx="5440680" cy="196596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92240" y="4251959"/>
            <a:ext cx="457200" cy="457200"/>
          </a:xfrm>
          <a:prstGeom prst="ellipse">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C2410C"/>
                </a:solidFill>
                <a:latin typeface="Arial"/>
              </a:rPr>
              <a:t>!</a:t>
            </a:r>
          </a:p>
        </p:txBody>
      </p:sp>
      <p:sp>
        <p:nvSpPr>
          <p:cNvPr id="18" name="TextBox 17"/>
          <p:cNvSpPr txBox="1"/>
          <p:nvPr/>
        </p:nvSpPr>
        <p:spPr>
          <a:xfrm>
            <a:off x="7132320" y="4270248"/>
            <a:ext cx="4206240" cy="411480"/>
          </a:xfrm>
          <a:prstGeom prst="rect">
            <a:avLst/>
          </a:prstGeom>
          <a:noFill/>
        </p:spPr>
        <p:txBody>
          <a:bodyPr wrap="square" lIns="0" rIns="0" tIns="0" bIns="0" anchor="t">
            <a:spAutoFit/>
          </a:bodyPr>
          <a:lstStyle/>
          <a:p>
            <a:pPr algn="l">
              <a:spcAft>
                <a:spcPts val="0"/>
              </a:spcAft>
            </a:pPr>
            <a:r>
              <a:rPr sz="1900" b="1" i="0">
                <a:solidFill>
                  <a:srgbClr val="1C1917"/>
                </a:solidFill>
                <a:latin typeface="Arial"/>
              </a:rPr>
              <a:t>Needs a real code project</a:t>
            </a:r>
          </a:p>
        </p:txBody>
      </p:sp>
      <p:sp>
        <p:nvSpPr>
          <p:cNvPr id="19" name="TextBox 18"/>
          <p:cNvSpPr txBox="1"/>
          <p:nvPr/>
        </p:nvSpPr>
        <p:spPr>
          <a:xfrm>
            <a:off x="7132320" y="4754879"/>
            <a:ext cx="4206240" cy="1097280"/>
          </a:xfrm>
          <a:prstGeom prst="rect">
            <a:avLst/>
          </a:prstGeom>
          <a:noFill/>
        </p:spPr>
        <p:txBody>
          <a:bodyPr wrap="square" lIns="0" rIns="0" tIns="0" bIns="0" anchor="t">
            <a:spAutoFit/>
          </a:bodyPr>
          <a:lstStyle/>
          <a:p>
            <a:pPr algn="l">
              <a:spcAft>
                <a:spcPts val="0"/>
              </a:spcAft>
            </a:pPr>
            <a:r>
              <a:rPr sz="1600" b="0" i="0">
                <a:solidFill>
                  <a:srgbClr val="57534E"/>
                </a:solidFill>
                <a:latin typeface="Calibri"/>
              </a:rPr>
              <a:t>awesome-python: 590 contributors, but 576 only edited a list, so 4 developers count.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PREPARE FOR QUESTIONS</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Q&amp;A cheat sheet (1/2)</a:t>
            </a:r>
          </a:p>
        </p:txBody>
      </p:sp>
      <p:sp>
        <p:nvSpPr>
          <p:cNvPr id="4" name="Rounded Rectangle 3"/>
          <p:cNvSpPr/>
          <p:nvPr/>
        </p:nvSpPr>
        <p:spPr>
          <a:xfrm>
            <a:off x="548640" y="1783080"/>
            <a:ext cx="5440680" cy="13258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59" y="1920240"/>
            <a:ext cx="4892040" cy="365760"/>
          </a:xfrm>
          <a:prstGeom prst="rect">
            <a:avLst/>
          </a:prstGeom>
          <a:noFill/>
        </p:spPr>
        <p:txBody>
          <a:bodyPr wrap="square" lIns="0" rIns="0" tIns="0" bIns="0" anchor="t">
            <a:spAutoFit/>
          </a:bodyPr>
          <a:lstStyle/>
          <a:p>
            <a:pPr algn="l">
              <a:spcAft>
                <a:spcPts val="0"/>
              </a:spcAft>
            </a:pPr>
            <a:r>
              <a:rPr sz="1600" b="1" i="0">
                <a:solidFill>
                  <a:srgbClr val="C2410C"/>
                </a:solidFill>
                <a:latin typeface="Calibri"/>
              </a:rPr>
              <a:t>Why not just use git blame?</a:t>
            </a:r>
          </a:p>
        </p:txBody>
      </p:sp>
      <p:sp>
        <p:nvSpPr>
          <p:cNvPr id="6" name="TextBox 5"/>
          <p:cNvSpPr txBox="1"/>
          <p:nvPr/>
        </p:nvSpPr>
        <p:spPr>
          <a:xfrm>
            <a:off x="822959" y="2313432"/>
            <a:ext cx="4892040" cy="731520"/>
          </a:xfrm>
          <a:prstGeom prst="rect">
            <a:avLst/>
          </a:prstGeom>
          <a:noFill/>
        </p:spPr>
        <p:txBody>
          <a:bodyPr wrap="square" lIns="0" rIns="0" tIns="0" bIns="0" anchor="t">
            <a:spAutoFit/>
          </a:bodyPr>
          <a:lstStyle/>
          <a:p>
            <a:pPr algn="l">
              <a:spcAft>
                <a:spcPts val="0"/>
              </a:spcAft>
            </a:pPr>
            <a:r>
              <a:rPr sz="1500" b="0" i="0">
                <a:solidFill>
                  <a:srgbClr val="1C1917"/>
                </a:solidFill>
                <a:latin typeface="Calibri"/>
              </a:rPr>
              <a:t>Blame is a snapshot: it loses renames, credits whoever reformatted last, and forgets the creator.</a:t>
            </a:r>
          </a:p>
        </p:txBody>
      </p:sp>
      <p:sp>
        <p:nvSpPr>
          <p:cNvPr id="7" name="Rounded Rectangle 6"/>
          <p:cNvSpPr/>
          <p:nvPr/>
        </p:nvSpPr>
        <p:spPr>
          <a:xfrm>
            <a:off x="6172200" y="1783080"/>
            <a:ext cx="5440680" cy="13258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46520" y="1920240"/>
            <a:ext cx="4892040" cy="365760"/>
          </a:xfrm>
          <a:prstGeom prst="rect">
            <a:avLst/>
          </a:prstGeom>
          <a:noFill/>
        </p:spPr>
        <p:txBody>
          <a:bodyPr wrap="square" lIns="0" rIns="0" tIns="0" bIns="0" anchor="t">
            <a:spAutoFit/>
          </a:bodyPr>
          <a:lstStyle/>
          <a:p>
            <a:pPr algn="l">
              <a:spcAft>
                <a:spcPts val="0"/>
              </a:spcAft>
            </a:pPr>
            <a:r>
              <a:rPr sz="1600" b="1" i="0">
                <a:solidFill>
                  <a:srgbClr val="C2410C"/>
                </a:solidFill>
                <a:latin typeface="Calibri"/>
              </a:rPr>
              <a:t>How do you stop the AI making things up?</a:t>
            </a:r>
          </a:p>
        </p:txBody>
      </p:sp>
      <p:sp>
        <p:nvSpPr>
          <p:cNvPr id="9" name="TextBox 8"/>
          <p:cNvSpPr txBox="1"/>
          <p:nvPr/>
        </p:nvSpPr>
        <p:spPr>
          <a:xfrm>
            <a:off x="6446520" y="2313432"/>
            <a:ext cx="4892040" cy="731520"/>
          </a:xfrm>
          <a:prstGeom prst="rect">
            <a:avLst/>
          </a:prstGeom>
          <a:noFill/>
        </p:spPr>
        <p:txBody>
          <a:bodyPr wrap="square" lIns="0" rIns="0" tIns="0" bIns="0" anchor="t">
            <a:spAutoFit/>
          </a:bodyPr>
          <a:lstStyle/>
          <a:p>
            <a:pPr algn="l">
              <a:spcAft>
                <a:spcPts val="0"/>
              </a:spcAft>
            </a:pPr>
            <a:r>
              <a:rPr sz="1500" b="0" i="0">
                <a:solidFill>
                  <a:srgbClr val="1C1917"/>
                </a:solidFill>
                <a:latin typeface="Calibri"/>
              </a:rPr>
              <a:t>It only sees evidence we pick; every claim needs a citation; a checker drops the rest (81/94 kept).</a:t>
            </a:r>
          </a:p>
        </p:txBody>
      </p:sp>
      <p:sp>
        <p:nvSpPr>
          <p:cNvPr id="10" name="Rounded Rectangle 9"/>
          <p:cNvSpPr/>
          <p:nvPr/>
        </p:nvSpPr>
        <p:spPr>
          <a:xfrm>
            <a:off x="548640" y="3291839"/>
            <a:ext cx="5440680" cy="13258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3428999"/>
            <a:ext cx="4892040" cy="365760"/>
          </a:xfrm>
          <a:prstGeom prst="rect">
            <a:avLst/>
          </a:prstGeom>
          <a:noFill/>
        </p:spPr>
        <p:txBody>
          <a:bodyPr wrap="square" lIns="0" rIns="0" tIns="0" bIns="0" anchor="t">
            <a:spAutoFit/>
          </a:bodyPr>
          <a:lstStyle/>
          <a:p>
            <a:pPr algn="l">
              <a:spcAft>
                <a:spcPts val="0"/>
              </a:spcAft>
            </a:pPr>
            <a:r>
              <a:rPr sz="1600" b="1" i="0">
                <a:solidFill>
                  <a:srgbClr val="C2410C"/>
                </a:solidFill>
                <a:latin typeface="Calibri"/>
              </a:rPr>
              <a:t>Why a small local model?</a:t>
            </a:r>
          </a:p>
        </p:txBody>
      </p:sp>
      <p:sp>
        <p:nvSpPr>
          <p:cNvPr id="12" name="TextBox 11"/>
          <p:cNvSpPr txBox="1"/>
          <p:nvPr/>
        </p:nvSpPr>
        <p:spPr>
          <a:xfrm>
            <a:off x="822959" y="3822191"/>
            <a:ext cx="4892040" cy="731520"/>
          </a:xfrm>
          <a:prstGeom prst="rect">
            <a:avLst/>
          </a:prstGeom>
          <a:noFill/>
        </p:spPr>
        <p:txBody>
          <a:bodyPr wrap="square" lIns="0" rIns="0" tIns="0" bIns="0" anchor="t">
            <a:spAutoFit/>
          </a:bodyPr>
          <a:lstStyle/>
          <a:p>
            <a:pPr algn="l">
              <a:spcAft>
                <a:spcPts val="0"/>
              </a:spcAft>
            </a:pPr>
            <a:r>
              <a:rPr sz="1500" b="0" i="0">
                <a:solidFill>
                  <a:srgbClr val="1C1917"/>
                </a:solidFill>
                <a:latin typeface="Calibri"/>
              </a:rPr>
              <a:t>Open-weight, free, private (code never leaves the laptop), and fast enough: ~2.5 min per plan.</a:t>
            </a:r>
          </a:p>
        </p:txBody>
      </p:sp>
      <p:sp>
        <p:nvSpPr>
          <p:cNvPr id="13" name="Rounded Rectangle 12"/>
          <p:cNvSpPr/>
          <p:nvPr/>
        </p:nvSpPr>
        <p:spPr>
          <a:xfrm>
            <a:off x="6172200" y="3291839"/>
            <a:ext cx="5440680" cy="13258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46520" y="3428999"/>
            <a:ext cx="4892040" cy="365760"/>
          </a:xfrm>
          <a:prstGeom prst="rect">
            <a:avLst/>
          </a:prstGeom>
          <a:noFill/>
        </p:spPr>
        <p:txBody>
          <a:bodyPr wrap="square" lIns="0" rIns="0" tIns="0" bIns="0" anchor="t">
            <a:spAutoFit/>
          </a:bodyPr>
          <a:lstStyle/>
          <a:p>
            <a:pPr algn="l">
              <a:spcAft>
                <a:spcPts val="0"/>
              </a:spcAft>
            </a:pPr>
            <a:r>
              <a:rPr sz="1600" b="1" i="0">
                <a:solidFill>
                  <a:srgbClr val="C2410C"/>
                </a:solidFill>
                <a:latin typeface="Calibri"/>
              </a:rPr>
              <a:t>Where do the numbers come from?</a:t>
            </a:r>
          </a:p>
        </p:txBody>
      </p:sp>
      <p:sp>
        <p:nvSpPr>
          <p:cNvPr id="15" name="TextBox 14"/>
          <p:cNvSpPr txBox="1"/>
          <p:nvPr/>
        </p:nvSpPr>
        <p:spPr>
          <a:xfrm>
            <a:off x="6446520" y="3822191"/>
            <a:ext cx="4892040" cy="731520"/>
          </a:xfrm>
          <a:prstGeom prst="rect">
            <a:avLst/>
          </a:prstGeom>
          <a:noFill/>
        </p:spPr>
        <p:txBody>
          <a:bodyPr wrap="square" lIns="0" rIns="0" tIns="0" bIns="0" anchor="t">
            <a:spAutoFit/>
          </a:bodyPr>
          <a:lstStyle/>
          <a:p>
            <a:pPr algn="l">
              <a:spcAft>
                <a:spcPts val="0"/>
              </a:spcAft>
            </a:pPr>
            <a:r>
              <a:rPr sz="1500" b="0" i="0">
                <a:solidFill>
                  <a:srgbClr val="1C1917"/>
                </a:solidFill>
                <a:latin typeface="Calibri"/>
              </a:rPr>
              <a:t>Authorship and truck factor: published research. Importance weights: our documented choice.</a:t>
            </a:r>
          </a:p>
        </p:txBody>
      </p:sp>
      <p:sp>
        <p:nvSpPr>
          <p:cNvPr id="16" name="Rounded Rectangle 15"/>
          <p:cNvSpPr/>
          <p:nvPr/>
        </p:nvSpPr>
        <p:spPr>
          <a:xfrm>
            <a:off x="548640" y="4800600"/>
            <a:ext cx="5440680" cy="13258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59" y="4937760"/>
            <a:ext cx="4892040" cy="365760"/>
          </a:xfrm>
          <a:prstGeom prst="rect">
            <a:avLst/>
          </a:prstGeom>
          <a:noFill/>
        </p:spPr>
        <p:txBody>
          <a:bodyPr wrap="square" lIns="0" rIns="0" tIns="0" bIns="0" anchor="t">
            <a:spAutoFit/>
          </a:bodyPr>
          <a:lstStyle/>
          <a:p>
            <a:pPr algn="l">
              <a:spcAft>
                <a:spcPts val="0"/>
              </a:spcAft>
            </a:pPr>
            <a:r>
              <a:rPr sz="1600" b="1" i="0">
                <a:solidFill>
                  <a:srgbClr val="C2410C"/>
                </a:solidFill>
                <a:latin typeface="Calibri"/>
              </a:rPr>
              <a:t>What if the GPU fails in the demo?</a:t>
            </a:r>
          </a:p>
        </p:txBody>
      </p:sp>
      <p:sp>
        <p:nvSpPr>
          <p:cNvPr id="18" name="TextBox 17"/>
          <p:cNvSpPr txBox="1"/>
          <p:nvPr/>
        </p:nvSpPr>
        <p:spPr>
          <a:xfrm>
            <a:off x="822959" y="5330952"/>
            <a:ext cx="4892040" cy="731520"/>
          </a:xfrm>
          <a:prstGeom prst="rect">
            <a:avLst/>
          </a:prstGeom>
          <a:noFill/>
        </p:spPr>
        <p:txBody>
          <a:bodyPr wrap="square" lIns="0" rIns="0" tIns="0" bIns="0" anchor="t">
            <a:spAutoFit/>
          </a:bodyPr>
          <a:lstStyle/>
          <a:p>
            <a:pPr algn="l">
              <a:spcAft>
                <a:spcPts val="0"/>
              </a:spcAft>
            </a:pPr>
            <a:r>
              <a:rPr sz="1500" b="0" i="0">
                <a:solidFill>
                  <a:srgbClr val="1C1917"/>
                </a:solidFill>
                <a:latin typeface="Calibri"/>
              </a:rPr>
              <a:t>Results are cached in the repo; the demo page needs no GPU at all.</a:t>
            </a:r>
          </a:p>
        </p:txBody>
      </p:sp>
      <p:sp>
        <p:nvSpPr>
          <p:cNvPr id="19" name="Rounded Rectangle 18"/>
          <p:cNvSpPr/>
          <p:nvPr/>
        </p:nvSpPr>
        <p:spPr>
          <a:xfrm>
            <a:off x="6172200" y="4800600"/>
            <a:ext cx="5440680" cy="13258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4937760"/>
            <a:ext cx="4892040" cy="365760"/>
          </a:xfrm>
          <a:prstGeom prst="rect">
            <a:avLst/>
          </a:prstGeom>
          <a:noFill/>
        </p:spPr>
        <p:txBody>
          <a:bodyPr wrap="square" lIns="0" rIns="0" tIns="0" bIns="0" anchor="t">
            <a:spAutoFit/>
          </a:bodyPr>
          <a:lstStyle/>
          <a:p>
            <a:pPr algn="l">
              <a:spcAft>
                <a:spcPts val="0"/>
              </a:spcAft>
            </a:pPr>
            <a:r>
              <a:rPr sz="1600" b="1" i="0">
                <a:solidFill>
                  <a:srgbClr val="C2410C"/>
                </a:solidFill>
                <a:latin typeface="Calibri"/>
              </a:rPr>
              <a:t>500+ contributors but only 4 developers?</a:t>
            </a:r>
          </a:p>
        </p:txBody>
      </p:sp>
      <p:sp>
        <p:nvSpPr>
          <p:cNvPr id="21" name="TextBox 20"/>
          <p:cNvSpPr txBox="1"/>
          <p:nvPr/>
        </p:nvSpPr>
        <p:spPr>
          <a:xfrm>
            <a:off x="6446520" y="5330952"/>
            <a:ext cx="4892040" cy="731520"/>
          </a:xfrm>
          <a:prstGeom prst="rect">
            <a:avLst/>
          </a:prstGeom>
          <a:noFill/>
        </p:spPr>
        <p:txBody>
          <a:bodyPr wrap="square" lIns="0" rIns="0" tIns="0" bIns="0" anchor="t">
            <a:spAutoFit/>
          </a:bodyPr>
          <a:lstStyle/>
          <a:p>
            <a:pPr algn="l">
              <a:spcAft>
                <a:spcPts val="0"/>
              </a:spcAft>
            </a:pPr>
            <a:r>
              <a:rPr sz="1500" b="0" i="0">
                <a:solidFill>
                  <a:srgbClr val="1C1917"/>
                </a:solidFill>
                <a:latin typeface="Calibri"/>
              </a:rPr>
              <a:t>Only source-code files count. One-line list edits aren't code expertise.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411480"/>
            <a:ext cx="10972800" cy="274320"/>
          </a:xfrm>
          <a:prstGeom prst="rect">
            <a:avLst/>
          </a:prstGeom>
          <a:noFill/>
        </p:spPr>
        <p:txBody>
          <a:bodyPr wrap="square" lIns="0" rIns="0" tIns="0" bIns="0" anchor="t">
            <a:spAutoFit/>
          </a:bodyPr>
          <a:lstStyle/>
          <a:p>
            <a:pPr algn="l">
              <a:spcAft>
                <a:spcPts val="0"/>
              </a:spcAft>
            </a:pPr>
            <a:r>
              <a:rPr sz="1200" b="1" i="0">
                <a:solidFill>
                  <a:srgbClr val="C2410C"/>
                </a:solidFill>
                <a:latin typeface="Arial"/>
              </a:rPr>
              <a:t>PREPARE FOR QUESTIONS</a:t>
            </a:r>
          </a:p>
        </p:txBody>
      </p:sp>
      <p:sp>
        <p:nvSpPr>
          <p:cNvPr id="3" name="Title"/>
          <p:cNvSpPr txBox="1"/>
          <p:nvPr/>
        </p:nvSpPr>
        <p:spPr>
          <a:xfrm>
            <a:off x="548640" y="713232"/>
            <a:ext cx="11064240" cy="731520"/>
          </a:xfrm>
          <a:prstGeom prst="rect">
            <a:avLst/>
          </a:prstGeom>
          <a:noFill/>
        </p:spPr>
        <p:txBody>
          <a:bodyPr wrap="square" lIns="0" rIns="0" tIns="0" bIns="0" anchor="t">
            <a:spAutoFit/>
          </a:bodyPr>
          <a:lstStyle/>
          <a:p>
            <a:pPr algn="l">
              <a:spcAft>
                <a:spcPts val="0"/>
              </a:spcAft>
            </a:pPr>
            <a:r>
              <a:rPr sz="3400" b="1" i="0">
                <a:solidFill>
                  <a:srgbClr val="1C1917"/>
                </a:solidFill>
                <a:latin typeface="Arial"/>
              </a:rPr>
              <a:t>Q&amp;A cheat sheet (2/2)</a:t>
            </a:r>
          </a:p>
        </p:txBody>
      </p:sp>
      <p:sp>
        <p:nvSpPr>
          <p:cNvPr id="4" name="Rounded Rectangle 3"/>
          <p:cNvSpPr/>
          <p:nvPr/>
        </p:nvSpPr>
        <p:spPr>
          <a:xfrm>
            <a:off x="548640" y="1783080"/>
            <a:ext cx="5440680" cy="13258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59" y="1920240"/>
            <a:ext cx="4892040" cy="365760"/>
          </a:xfrm>
          <a:prstGeom prst="rect">
            <a:avLst/>
          </a:prstGeom>
          <a:noFill/>
        </p:spPr>
        <p:txBody>
          <a:bodyPr wrap="square" lIns="0" rIns="0" tIns="0" bIns="0" anchor="t">
            <a:spAutoFit/>
          </a:bodyPr>
          <a:lstStyle/>
          <a:p>
            <a:pPr algn="l">
              <a:spcAft>
                <a:spcPts val="0"/>
              </a:spcAft>
            </a:pPr>
            <a:r>
              <a:rPr sz="1600" b="1" i="0">
                <a:solidFill>
                  <a:srgbClr val="C2410C"/>
                </a:solidFill>
                <a:latin typeface="Calibri"/>
              </a:rPr>
              <a:t>More commits, but not the top expert?</a:t>
            </a:r>
          </a:p>
        </p:txBody>
      </p:sp>
      <p:sp>
        <p:nvSpPr>
          <p:cNvPr id="6" name="TextBox 5"/>
          <p:cNvSpPr txBox="1"/>
          <p:nvPr/>
        </p:nvSpPr>
        <p:spPr>
          <a:xfrm>
            <a:off x="822959" y="2313432"/>
            <a:ext cx="4892040" cy="731520"/>
          </a:xfrm>
          <a:prstGeom prst="rect">
            <a:avLst/>
          </a:prstGeom>
          <a:noFill/>
        </p:spPr>
        <p:txBody>
          <a:bodyPr wrap="square" lIns="0" rIns="0" tIns="0" bIns="0" anchor="t">
            <a:spAutoFit/>
          </a:bodyPr>
          <a:lstStyle/>
          <a:p>
            <a:pPr algn="l">
              <a:spcAft>
                <a:spcPts val="0"/>
              </a:spcAft>
            </a:pPr>
            <a:r>
              <a:rPr sz="1500" b="0" i="0">
                <a:solidFill>
                  <a:srgbClr val="1C1917"/>
                </a:solidFill>
                <a:latin typeface="Calibri"/>
              </a:rPr>
              <a:t>Expertise is per file and decays when others rewrite your code.</a:t>
            </a:r>
          </a:p>
        </p:txBody>
      </p:sp>
      <p:sp>
        <p:nvSpPr>
          <p:cNvPr id="7" name="Rounded Rectangle 6"/>
          <p:cNvSpPr/>
          <p:nvPr/>
        </p:nvSpPr>
        <p:spPr>
          <a:xfrm>
            <a:off x="6172200" y="1783080"/>
            <a:ext cx="5440680" cy="13258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46520" y="1920240"/>
            <a:ext cx="4892040" cy="365760"/>
          </a:xfrm>
          <a:prstGeom prst="rect">
            <a:avLst/>
          </a:prstGeom>
          <a:noFill/>
        </p:spPr>
        <p:txBody>
          <a:bodyPr wrap="square" lIns="0" rIns="0" tIns="0" bIns="0" anchor="t">
            <a:spAutoFit/>
          </a:bodyPr>
          <a:lstStyle/>
          <a:p>
            <a:pPr algn="l">
              <a:spcAft>
                <a:spcPts val="0"/>
              </a:spcAft>
            </a:pPr>
            <a:r>
              <a:rPr sz="1600" b="1" i="0">
                <a:solidFill>
                  <a:srgbClr val="C2410C"/>
                </a:solidFill>
                <a:latin typeface="Calibri"/>
              </a:rPr>
              <a:t>Why is the successor sometimes “none”?</a:t>
            </a:r>
          </a:p>
        </p:txBody>
      </p:sp>
      <p:sp>
        <p:nvSpPr>
          <p:cNvPr id="9" name="TextBox 8"/>
          <p:cNvSpPr txBox="1"/>
          <p:nvPr/>
        </p:nvSpPr>
        <p:spPr>
          <a:xfrm>
            <a:off x="6446520" y="2313432"/>
            <a:ext cx="4892040" cy="731520"/>
          </a:xfrm>
          <a:prstGeom prst="rect">
            <a:avLst/>
          </a:prstGeom>
          <a:noFill/>
        </p:spPr>
        <p:txBody>
          <a:bodyPr wrap="square" lIns="0" rIns="0" tIns="0" bIns="0" anchor="t">
            <a:spAutoFit/>
          </a:bodyPr>
          <a:lstStyle/>
          <a:p>
            <a:pPr algn="l">
              <a:spcAft>
                <a:spcPts val="0"/>
              </a:spcAft>
            </a:pPr>
            <a:r>
              <a:rPr sz="1500" b="0" i="0">
                <a:solidFill>
                  <a:srgbClr val="1C1917"/>
                </a:solidFill>
                <a:latin typeface="Calibri"/>
              </a:rPr>
              <a:t>Nobody still active (last 12 months) has worked on that folder: a real warning.</a:t>
            </a:r>
          </a:p>
        </p:txBody>
      </p:sp>
      <p:sp>
        <p:nvSpPr>
          <p:cNvPr id="10" name="Rounded Rectangle 9"/>
          <p:cNvSpPr/>
          <p:nvPr/>
        </p:nvSpPr>
        <p:spPr>
          <a:xfrm>
            <a:off x="548640" y="3291839"/>
            <a:ext cx="5440680" cy="13258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3428999"/>
            <a:ext cx="4892040" cy="365760"/>
          </a:xfrm>
          <a:prstGeom prst="rect">
            <a:avLst/>
          </a:prstGeom>
          <a:noFill/>
        </p:spPr>
        <p:txBody>
          <a:bodyPr wrap="square" lIns="0" rIns="0" tIns="0" bIns="0" anchor="t">
            <a:spAutoFit/>
          </a:bodyPr>
          <a:lstStyle/>
          <a:p>
            <a:pPr algn="l">
              <a:spcAft>
                <a:spcPts val="0"/>
              </a:spcAft>
            </a:pPr>
            <a:r>
              <a:rPr sz="1600" b="1" i="0">
                <a:solidFill>
                  <a:srgbClr val="C2410C"/>
                </a:solidFill>
                <a:latin typeface="Calibri"/>
              </a:rPr>
              <a:t>Is risk between 0 and 1?</a:t>
            </a:r>
          </a:p>
        </p:txBody>
      </p:sp>
      <p:sp>
        <p:nvSpPr>
          <p:cNvPr id="12" name="TextBox 11"/>
          <p:cNvSpPr txBox="1"/>
          <p:nvPr/>
        </p:nvSpPr>
        <p:spPr>
          <a:xfrm>
            <a:off x="822959" y="3822191"/>
            <a:ext cx="4892040" cy="731520"/>
          </a:xfrm>
          <a:prstGeom prst="rect">
            <a:avLst/>
          </a:prstGeom>
          <a:noFill/>
        </p:spPr>
        <p:txBody>
          <a:bodyPr wrap="square" lIns="0" rIns="0" tIns="0" bIns="0" anchor="t">
            <a:spAutoFit/>
          </a:bodyPr>
          <a:lstStyle/>
          <a:p>
            <a:pPr algn="l">
              <a:spcAft>
                <a:spcPts val="0"/>
              </a:spcAft>
            </a:pPr>
            <a:r>
              <a:rPr sz="1500" b="0" i="0">
                <a:solidFill>
                  <a:srgbClr val="1C1917"/>
                </a:solidFill>
                <a:latin typeface="Calibri"/>
              </a:rPr>
              <a:t>No: it adds up importance across a folder's files. Compare folders in the same repo.</a:t>
            </a:r>
          </a:p>
        </p:txBody>
      </p:sp>
      <p:sp>
        <p:nvSpPr>
          <p:cNvPr id="13" name="Rounded Rectangle 12"/>
          <p:cNvSpPr/>
          <p:nvPr/>
        </p:nvSpPr>
        <p:spPr>
          <a:xfrm>
            <a:off x="6172200" y="3291839"/>
            <a:ext cx="5440680" cy="13258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46520" y="3428999"/>
            <a:ext cx="4892040" cy="365760"/>
          </a:xfrm>
          <a:prstGeom prst="rect">
            <a:avLst/>
          </a:prstGeom>
          <a:noFill/>
        </p:spPr>
        <p:txBody>
          <a:bodyPr wrap="square" lIns="0" rIns="0" tIns="0" bIns="0" anchor="t">
            <a:spAutoFit/>
          </a:bodyPr>
          <a:lstStyle/>
          <a:p>
            <a:pPr algn="l">
              <a:spcAft>
                <a:spcPts val="0"/>
              </a:spcAft>
            </a:pPr>
            <a:r>
              <a:rPr sz="1600" b="1" i="0">
                <a:solidFill>
                  <a:srgbClr val="C2410C"/>
                </a:solidFill>
                <a:latin typeface="Calibri"/>
              </a:rPr>
              <a:t>Does it work for other languages?</a:t>
            </a:r>
          </a:p>
        </p:txBody>
      </p:sp>
      <p:sp>
        <p:nvSpPr>
          <p:cNvPr id="15" name="TextBox 14"/>
          <p:cNvSpPr txBox="1"/>
          <p:nvPr/>
        </p:nvSpPr>
        <p:spPr>
          <a:xfrm>
            <a:off x="6446520" y="3822191"/>
            <a:ext cx="4892040" cy="731520"/>
          </a:xfrm>
          <a:prstGeom prst="rect">
            <a:avLst/>
          </a:prstGeom>
          <a:noFill/>
        </p:spPr>
        <p:txBody>
          <a:bodyPr wrap="square" lIns="0" rIns="0" tIns="0" bIns="0" anchor="t">
            <a:spAutoFit/>
          </a:bodyPr>
          <a:lstStyle/>
          <a:p>
            <a:pPr algn="l">
              <a:spcAft>
                <a:spcPts val="0"/>
              </a:spcAft>
            </a:pPr>
            <a:r>
              <a:rPr sz="1500" b="0" i="0">
                <a:solidFill>
                  <a:srgbClr val="1C1917"/>
                </a:solidFill>
                <a:latin typeface="Calibri"/>
              </a:rPr>
              <a:t>Yes, with less detail: the history math is language-agnostic; fan-in is Python-only.</a:t>
            </a:r>
          </a:p>
        </p:txBody>
      </p:sp>
      <p:sp>
        <p:nvSpPr>
          <p:cNvPr id="16" name="Rounded Rectangle 15"/>
          <p:cNvSpPr/>
          <p:nvPr/>
        </p:nvSpPr>
        <p:spPr>
          <a:xfrm>
            <a:off x="548640" y="4800600"/>
            <a:ext cx="5440680" cy="13258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59" y="4937760"/>
            <a:ext cx="4892040" cy="365760"/>
          </a:xfrm>
          <a:prstGeom prst="rect">
            <a:avLst/>
          </a:prstGeom>
          <a:noFill/>
        </p:spPr>
        <p:txBody>
          <a:bodyPr wrap="square" lIns="0" rIns="0" tIns="0" bIns="0" anchor="t">
            <a:spAutoFit/>
          </a:bodyPr>
          <a:lstStyle/>
          <a:p>
            <a:pPr algn="l">
              <a:spcAft>
                <a:spcPts val="0"/>
              </a:spcAft>
            </a:pPr>
            <a:r>
              <a:rPr sz="1600" b="1" i="0">
                <a:solidFill>
                  <a:srgbClr val="C2410C"/>
                </a:solidFill>
                <a:latin typeface="Calibri"/>
              </a:rPr>
              <a:t>Does it post to GitHub?</a:t>
            </a:r>
          </a:p>
        </p:txBody>
      </p:sp>
      <p:sp>
        <p:nvSpPr>
          <p:cNvPr id="18" name="TextBox 17"/>
          <p:cNvSpPr txBox="1"/>
          <p:nvPr/>
        </p:nvSpPr>
        <p:spPr>
          <a:xfrm>
            <a:off x="822959" y="5330952"/>
            <a:ext cx="4892040" cy="731520"/>
          </a:xfrm>
          <a:prstGeom prst="rect">
            <a:avLst/>
          </a:prstGeom>
          <a:noFill/>
        </p:spPr>
        <p:txBody>
          <a:bodyPr wrap="square" lIns="0" rIns="0" tIns="0" bIns="0" anchor="t">
            <a:spAutoFit/>
          </a:bodyPr>
          <a:lstStyle/>
          <a:p>
            <a:pPr algn="l">
              <a:spcAft>
                <a:spcPts val="0"/>
              </a:spcAft>
            </a:pPr>
            <a:r>
              <a:rPr sz="1500" b="0" i="0">
                <a:solidFill>
                  <a:srgbClr val="1C1917"/>
                </a:solidFill>
                <a:latin typeface="Calibri"/>
              </a:rPr>
              <a:t>Never. It only writes local files for a human to review.</a:t>
            </a:r>
          </a:p>
        </p:txBody>
      </p:sp>
      <p:sp>
        <p:nvSpPr>
          <p:cNvPr id="19" name="Rounded Rectangle 18"/>
          <p:cNvSpPr/>
          <p:nvPr/>
        </p:nvSpPr>
        <p:spPr>
          <a:xfrm>
            <a:off x="6172200" y="4800600"/>
            <a:ext cx="5440680" cy="1325880"/>
          </a:xfrm>
          <a:prstGeom prst="roundRect">
            <a:avLst>
              <a:gd name="adj" fmla="val 8000"/>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4937760"/>
            <a:ext cx="4892040" cy="365760"/>
          </a:xfrm>
          <a:prstGeom prst="rect">
            <a:avLst/>
          </a:prstGeom>
          <a:noFill/>
        </p:spPr>
        <p:txBody>
          <a:bodyPr wrap="square" lIns="0" rIns="0" tIns="0" bIns="0" anchor="t">
            <a:spAutoFit/>
          </a:bodyPr>
          <a:lstStyle/>
          <a:p>
            <a:pPr algn="l">
              <a:spcAft>
                <a:spcPts val="0"/>
              </a:spcAft>
            </a:pPr>
            <a:r>
              <a:rPr sz="1600" b="1" i="0">
                <a:solidFill>
                  <a:srgbClr val="C2410C"/>
                </a:solidFill>
                <a:latin typeface="Calibri"/>
              </a:rPr>
              <a:t>What's next?</a:t>
            </a:r>
          </a:p>
        </p:txBody>
      </p:sp>
      <p:sp>
        <p:nvSpPr>
          <p:cNvPr id="21" name="TextBox 20"/>
          <p:cNvSpPr txBox="1"/>
          <p:nvPr/>
        </p:nvSpPr>
        <p:spPr>
          <a:xfrm>
            <a:off x="6446520" y="5330952"/>
            <a:ext cx="4892040" cy="731520"/>
          </a:xfrm>
          <a:prstGeom prst="rect">
            <a:avLst/>
          </a:prstGeom>
          <a:noFill/>
        </p:spPr>
        <p:txBody>
          <a:bodyPr wrap="square" lIns="0" rIns="0" tIns="0" bIns="0" anchor="t">
            <a:spAutoFit/>
          </a:bodyPr>
          <a:lstStyle/>
          <a:p>
            <a:pPr algn="l">
              <a:spcAft>
                <a:spcPts val="0"/>
              </a:spcAft>
            </a:pPr>
            <a:r>
              <a:rPr sz="1500" b="0" i="0">
                <a:solidFill>
                  <a:srgbClr val="1C1917"/>
                </a:solidFill>
                <a:latin typeface="Calibri"/>
              </a:rPr>
              <a:t>A GitHub Action, Co-authored-by support, and checking against CODEOWNERS.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C1917"/>
        </a:solidFill>
        <a:effectLst/>
      </p:bgPr>
    </p:bg>
    <p:spTree>
      <p:nvGrpSpPr>
        <p:cNvPr id="1" name=""/>
        <p:cNvGrpSpPr/>
        <p:nvPr/>
      </p:nvGrpSpPr>
      <p:grpSpPr/>
      <p:sp>
        <p:nvSpPr>
          <p:cNvPr id="2" name="TextBox 1"/>
          <p:cNvSpPr txBox="1"/>
          <p:nvPr/>
        </p:nvSpPr>
        <p:spPr>
          <a:xfrm>
            <a:off x="731520" y="1371600"/>
            <a:ext cx="10515600" cy="365760"/>
          </a:xfrm>
          <a:prstGeom prst="rect">
            <a:avLst/>
          </a:prstGeom>
          <a:noFill/>
        </p:spPr>
        <p:txBody>
          <a:bodyPr wrap="square" lIns="0" rIns="0" tIns="0" bIns="0" anchor="t">
            <a:spAutoFit/>
          </a:bodyPr>
          <a:lstStyle/>
          <a:p>
            <a:pPr algn="l">
              <a:spcAft>
                <a:spcPts val="0"/>
              </a:spcAft>
            </a:pPr>
            <a:r>
              <a:rPr sz="1300" b="1" i="0">
                <a:solidFill>
                  <a:srgbClr val="C2410C"/>
                </a:solidFill>
                <a:latin typeface="Arial"/>
              </a:rPr>
              <a:t>IN ONE SENTENCE</a:t>
            </a:r>
          </a:p>
        </p:txBody>
      </p:sp>
      <p:sp>
        <p:nvSpPr>
          <p:cNvPr id="3" name="TextBox 2"/>
          <p:cNvSpPr txBox="1"/>
          <p:nvPr/>
        </p:nvSpPr>
        <p:spPr>
          <a:xfrm>
            <a:off x="731520" y="1874519"/>
            <a:ext cx="10607040" cy="1828800"/>
          </a:xfrm>
          <a:prstGeom prst="rect">
            <a:avLst/>
          </a:prstGeom>
          <a:noFill/>
        </p:spPr>
        <p:txBody>
          <a:bodyPr wrap="square" lIns="0" rIns="0" tIns="0" bIns="0" anchor="t">
            <a:spAutoFit/>
          </a:bodyPr>
          <a:lstStyle/>
          <a:p>
            <a:pPr algn="l">
              <a:spcAft>
                <a:spcPts val="0"/>
              </a:spcAft>
            </a:pPr>
            <a:r>
              <a:rPr sz="3400" b="1" i="0">
                <a:solidFill>
                  <a:srgbClr val="FAFAF9"/>
                </a:solidFill>
                <a:latin typeface="Arial"/>
              </a:rPr>
              <a:t>Handoff finds the code only one person understands, and turns their departure into a checked, cited plan.</a:t>
            </a:r>
          </a:p>
        </p:txBody>
      </p:sp>
      <p:sp>
        <p:nvSpPr>
          <p:cNvPr id="4" name="Oval 3"/>
          <p:cNvSpPr/>
          <p:nvPr/>
        </p:nvSpPr>
        <p:spPr>
          <a:xfrm>
            <a:off x="731520" y="420624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1</a:t>
            </a:r>
          </a:p>
        </p:txBody>
      </p:sp>
      <p:sp>
        <p:nvSpPr>
          <p:cNvPr id="5" name="TextBox 4"/>
          <p:cNvSpPr txBox="1"/>
          <p:nvPr/>
        </p:nvSpPr>
        <p:spPr>
          <a:xfrm>
            <a:off x="1417320" y="4160520"/>
            <a:ext cx="2743200" cy="411480"/>
          </a:xfrm>
          <a:prstGeom prst="rect">
            <a:avLst/>
          </a:prstGeom>
          <a:noFill/>
        </p:spPr>
        <p:txBody>
          <a:bodyPr wrap="square" lIns="0" rIns="0" tIns="0" bIns="0" anchor="t">
            <a:spAutoFit/>
          </a:bodyPr>
          <a:lstStyle/>
          <a:p>
            <a:pPr algn="l">
              <a:spcAft>
                <a:spcPts val="0"/>
              </a:spcAft>
            </a:pPr>
            <a:r>
              <a:rPr sz="2000" b="1" i="0">
                <a:solidFill>
                  <a:srgbClr val="FAFAF9"/>
                </a:solidFill>
                <a:latin typeface="Arial"/>
              </a:rPr>
              <a:t>Measure</a:t>
            </a:r>
          </a:p>
        </p:txBody>
      </p:sp>
      <p:sp>
        <p:nvSpPr>
          <p:cNvPr id="6" name="TextBox 5"/>
          <p:cNvSpPr txBox="1"/>
          <p:nvPr/>
        </p:nvSpPr>
        <p:spPr>
          <a:xfrm>
            <a:off x="1417320" y="4572000"/>
            <a:ext cx="2743200" cy="731520"/>
          </a:xfrm>
          <a:prstGeom prst="rect">
            <a:avLst/>
          </a:prstGeom>
          <a:noFill/>
        </p:spPr>
        <p:txBody>
          <a:bodyPr wrap="square" lIns="0" rIns="0" tIns="0" bIns="0" anchor="t">
            <a:spAutoFit/>
          </a:bodyPr>
          <a:lstStyle/>
          <a:p>
            <a:pPr algn="l">
              <a:spcAft>
                <a:spcPts val="0"/>
              </a:spcAft>
            </a:pPr>
            <a:r>
              <a:rPr sz="1500" b="0" i="0">
                <a:solidFill>
                  <a:srgbClr val="A8A29E"/>
                </a:solidFill>
                <a:latin typeface="Calibri"/>
              </a:rPr>
              <a:t>Who knows what, from Git history</a:t>
            </a:r>
          </a:p>
        </p:txBody>
      </p:sp>
      <p:sp>
        <p:nvSpPr>
          <p:cNvPr id="7" name="Oval 6"/>
          <p:cNvSpPr/>
          <p:nvPr/>
        </p:nvSpPr>
        <p:spPr>
          <a:xfrm>
            <a:off x="4389120" y="420624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2</a:t>
            </a:r>
          </a:p>
        </p:txBody>
      </p:sp>
      <p:sp>
        <p:nvSpPr>
          <p:cNvPr id="8" name="TextBox 7"/>
          <p:cNvSpPr txBox="1"/>
          <p:nvPr/>
        </p:nvSpPr>
        <p:spPr>
          <a:xfrm>
            <a:off x="5074920" y="4160520"/>
            <a:ext cx="2743200" cy="411480"/>
          </a:xfrm>
          <a:prstGeom prst="rect">
            <a:avLst/>
          </a:prstGeom>
          <a:noFill/>
        </p:spPr>
        <p:txBody>
          <a:bodyPr wrap="square" lIns="0" rIns="0" tIns="0" bIns="0" anchor="t">
            <a:spAutoFit/>
          </a:bodyPr>
          <a:lstStyle/>
          <a:p>
            <a:pPr algn="l">
              <a:spcAft>
                <a:spcPts val="0"/>
              </a:spcAft>
            </a:pPr>
            <a:r>
              <a:rPr sz="2000" b="1" i="0">
                <a:solidFill>
                  <a:srgbClr val="FAFAF9"/>
                </a:solidFill>
                <a:latin typeface="Arial"/>
              </a:rPr>
              <a:t>Explain</a:t>
            </a:r>
          </a:p>
        </p:txBody>
      </p:sp>
      <p:sp>
        <p:nvSpPr>
          <p:cNvPr id="9" name="TextBox 8"/>
          <p:cNvSpPr txBox="1"/>
          <p:nvPr/>
        </p:nvSpPr>
        <p:spPr>
          <a:xfrm>
            <a:off x="5074920" y="4572000"/>
            <a:ext cx="2743200" cy="731520"/>
          </a:xfrm>
          <a:prstGeom prst="rect">
            <a:avLst/>
          </a:prstGeom>
          <a:noFill/>
        </p:spPr>
        <p:txBody>
          <a:bodyPr wrap="square" lIns="0" rIns="0" tIns="0" bIns="0" anchor="t">
            <a:spAutoFit/>
          </a:bodyPr>
          <a:lstStyle/>
          <a:p>
            <a:pPr algn="l">
              <a:spcAft>
                <a:spcPts val="0"/>
              </a:spcAft>
            </a:pPr>
            <a:r>
              <a:rPr sz="1500" b="0" i="0">
                <a:solidFill>
                  <a:srgbClr val="A8A29E"/>
                </a:solidFill>
                <a:latin typeface="Calibri"/>
              </a:rPr>
              <a:t>A local AI writes the plan</a:t>
            </a:r>
          </a:p>
        </p:txBody>
      </p:sp>
      <p:sp>
        <p:nvSpPr>
          <p:cNvPr id="10" name="Oval 9"/>
          <p:cNvSpPr/>
          <p:nvPr/>
        </p:nvSpPr>
        <p:spPr>
          <a:xfrm>
            <a:off x="8046720" y="4206240"/>
            <a:ext cx="502920" cy="502920"/>
          </a:xfrm>
          <a:prstGeom prst="ellipse">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3</a:t>
            </a:r>
          </a:p>
        </p:txBody>
      </p:sp>
      <p:sp>
        <p:nvSpPr>
          <p:cNvPr id="11" name="TextBox 10"/>
          <p:cNvSpPr txBox="1"/>
          <p:nvPr/>
        </p:nvSpPr>
        <p:spPr>
          <a:xfrm>
            <a:off x="8732520" y="4160520"/>
            <a:ext cx="2743200" cy="411480"/>
          </a:xfrm>
          <a:prstGeom prst="rect">
            <a:avLst/>
          </a:prstGeom>
          <a:noFill/>
        </p:spPr>
        <p:txBody>
          <a:bodyPr wrap="square" lIns="0" rIns="0" tIns="0" bIns="0" anchor="t">
            <a:spAutoFit/>
          </a:bodyPr>
          <a:lstStyle/>
          <a:p>
            <a:pPr algn="l">
              <a:spcAft>
                <a:spcPts val="0"/>
              </a:spcAft>
            </a:pPr>
            <a:r>
              <a:rPr sz="2000" b="1" i="0">
                <a:solidFill>
                  <a:srgbClr val="FAFAF9"/>
                </a:solidFill>
                <a:latin typeface="Arial"/>
              </a:rPr>
              <a:t>Verify</a:t>
            </a:r>
          </a:p>
        </p:txBody>
      </p:sp>
      <p:sp>
        <p:nvSpPr>
          <p:cNvPr id="12" name="TextBox 11"/>
          <p:cNvSpPr txBox="1"/>
          <p:nvPr/>
        </p:nvSpPr>
        <p:spPr>
          <a:xfrm>
            <a:off x="8732520" y="4572000"/>
            <a:ext cx="2743200" cy="731520"/>
          </a:xfrm>
          <a:prstGeom prst="rect">
            <a:avLst/>
          </a:prstGeom>
          <a:noFill/>
        </p:spPr>
        <p:txBody>
          <a:bodyPr wrap="square" lIns="0" rIns="0" tIns="0" bIns="0" anchor="t">
            <a:spAutoFit/>
          </a:bodyPr>
          <a:lstStyle/>
          <a:p>
            <a:pPr algn="l">
              <a:spcAft>
                <a:spcPts val="0"/>
              </a:spcAft>
            </a:pPr>
            <a:r>
              <a:rPr sz="1500" b="0" i="0">
                <a:solidFill>
                  <a:srgbClr val="A8A29E"/>
                </a:solidFill>
                <a:latin typeface="Calibri"/>
              </a:rPr>
              <a:t>Every claim proves its source</a:t>
            </a:r>
          </a:p>
        </p:txBody>
      </p:sp>
      <p:sp>
        <p:nvSpPr>
          <p:cNvPr id="13" name="TextBox 12"/>
          <p:cNvSpPr txBox="1"/>
          <p:nvPr/>
        </p:nvSpPr>
        <p:spPr>
          <a:xfrm>
            <a:off x="731520" y="5897880"/>
            <a:ext cx="10058400" cy="365760"/>
          </a:xfrm>
          <a:prstGeom prst="rect">
            <a:avLst/>
          </a:prstGeom>
          <a:noFill/>
        </p:spPr>
        <p:txBody>
          <a:bodyPr wrap="square" lIns="0" rIns="0" tIns="0" bIns="0" anchor="t">
            <a:spAutoFit/>
          </a:bodyPr>
          <a:lstStyle/>
          <a:p>
            <a:pPr algn="l">
              <a:spcAft>
                <a:spcPts val="0"/>
              </a:spcAft>
            </a:pPr>
            <a:r>
              <a:rPr sz="1400" b="0" i="0">
                <a:solidFill>
                  <a:srgbClr val="A8A29E"/>
                </a:solidFill>
                <a:latin typeface="Calibri"/>
              </a:rPr>
              <a:t>MIT licensed · open-weight model · runs locally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