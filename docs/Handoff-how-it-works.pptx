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C1917"/>
                </a:solidFill>
                <a:latin typeface="Calibri"/>
              </a:rPr>
              <a:t>We picked the model by measuring (% verified)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Claims verified (%)</c:v>
                </c:pt>
              </c:strCache>
            </c:strRef>
          </c:tx>
          <c:dPt>
            <c:idx val="0"/>
            <c:spPr>
              <a:solidFill>
                <a:srgbClr val="A8A29E"/>
              </a:solidFill>
            </c:spPr>
          </c:dPt>
          <c:dPt>
            <c:idx val="1"/>
            <c:spPr>
              <a:solidFill>
                <a:srgbClr val="C2410C"/>
              </a:solidFill>
            </c:spPr>
          </c:dPt>
          <c:cat>
            <c:strRef>
              <c:f>Sheet1!$A$2:$A$3</c:f>
              <c:strCache>
                <c:ptCount val="2"/>
                <c:pt idx="0">
                  <c:v>gemma3:4b</c:v>
                </c:pt>
                <c:pt idx="1">
                  <c:v>qwen2.5-coder:7b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</c:v>
                </c:pt>
                <c:pt idx="1">
                  <c:v>86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1C1917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C191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hook: requests has 515 contributors, but if just 3 key people left, more than half its files would have no remaining expert. That's the truck factor. Handoff answers one question: if a specific maintainer leaves, which code loses its last expert, and what should the team do before they go? It does three things: measure who knows what from Git history, explain the risky code with a local AI model, and verify every claim the AI makes.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 in open source is concentrated in a few people, and contributor counts hide that. Projects find out only after someone leaves. Handoff gives three layers of answer: how serious the departure is (impact numbers), where it hurts most (ranked folders with a successor), and what to do about it (a knowledge-transfer plan with questions to ask the person while they are still around).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important slide for Q&amp;A. The analysis half uses math on Git history to decide what is at risk, with no AI, so results are repeatable. The generation half asks a local AI model to explain the risky code, but only from evidence we hand it, and a checker written in ordinary code removes claims whose citation doesn't point to that evidence. The halves only meet in one JSON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shows three behaviours that track knowledge: creating a file, changing it often, and other people changing it afterwards (which makes your knowledge stale). The Degree of Authorship formula (Fritz et al.; Avelino et al.) combines them into a score; above a threshold you count as an author, i.e. an expert. Remove the leaver: files where they were the only expert are orphaned; files where someone else also knows them are at risk. Coverage is the share of files that still have an expert; the truck factor is how many people can leave before more than half the files have none. Folders are then ranked by importance (40% size, 40% how many files import it, 20% the leaver's recent work; our own weights), and each gets a successor: the best person who has worked on it and committed in the last 12 months. We clean the history first: bots and 100+-file commits don't count, renames keep history, and one person's emails are merged.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risky file we build an evidence pack: the code outline with line numbers, the leaver's commit messages, their TODO/FIXME/HACK comments and their fix/revert commits. A local model (qwen2.5-coder 7B via Ollama) writes notes where every claim must cite a line or commit. A checker in plain Python drops claims whose citation wasn't in the evidence; when intent isn't in the evidence the model must ask a question instead. On requests, 81 of 94 claims were kept. We picked the model by measuring: Qwen 86% vs Gemma 63%, because Gemma got line numbers wrong. Be honest: verified means the citation is real, not that every sentence is right; that's why every claim is one click from its source. The plan then gives, per folder: what it does, how to work in it, rules not to break, known landmines, questions to ask before they leave, and handoff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for judges: https://handoff-mu-mauve.vercel.app/ (switch repos with the picker, or add ?repo=typer). It is a static site on Vercel serving saved results for psf/requests, pallets/click and fastapi/typer; generation is not hosted because it runs a local model on a GPU and code never leaves the machine. Two front ends. The demo page (handoff serve, or the Vercel site) shows saved results and needs no GPU. Handoff Studio (python -m handoff.studio) runs the whole flow on any repo from the browser: clone, pick who leaves, generate the plan with progress, limit files per folder to save time, stop and resume (finished files are cached), and delete runs. Active developers get a filled dot, inactive ones a hollow grey dot. A full plan for requests takes about 2.5 minutes on a laptop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being honest. REFERENCES: (1) T. Fritz, J. Ou, G. C. Murphy, E. Murphy-Hill, 'A degree-of-knowledge model to capture source code familiarity', ICSE 2010, pp. 385-394. (2) T. Fritz, G. C. Murphy, E. Murphy-Hill, J. Ou, E. Hill, 'Degree-of-knowledge: modeling a developer's knowledge of code', ACM TOSEM 23(2), 2014. These define the Degree-of-Authorship formula and its coefficients (3.293, 1.098, 0.164, -0.321). (3) G. Avelino, L. Passos, A. Hora, M. T. Valente, 'A novel approach for estimating truck factors', ICPC 2016: they normalised DOA, set the expert thresholds (normalised DOA &gt; 0.75 and DOA &gt;= 3.293, tuned against git-blame) and defined the greedy truck-factor algorithm, tested on 133 GitHub projects. Importance = 40% file size (lines of code) + 40% fan-in (how many other files import it) + 20% the leaver's commits to it in the last 12 months, each scaled 0-1 within the repo. Folder risk = sum of importance of orphaned files (x1) plus at-risk files someone else also knows (x0.5); the top 5 folders go on to the KT plan. Successor = among developers other than the leaver who committed in the 12 months before the repo's latest commit, the one with the highest summed normalised DOA over the folder's files; 'none' if nobody qualifies. Filters: bot accounts (dependabot, renovate, github-actions, [bot] ...) and commits touching more than 100 files are never credited (the 100 is configurable with --bulk-limit); only source-code files that still exist count, skipping vendor/, node_modules/, dist/, build/, minified and generated files. All of these are our own documented choices, not from research. Limits: Git history isn't understanding, verified isn't guaranteed true, Python gets the richest evidence.</a:t>
            </a:r>
          </a:p>
          <a:p/>
          <a:p>
            <a:r>
              <a:t>Q&amp;A CHEAT SHEET</a:t>
            </a:r>
          </a:p>
          <a:p>
            <a:r>
              <a:t>- Why not git blame? Blame is a snapshot: it loses renames, credits whoever reformatted last, and forgets the creator.</a:t>
            </a:r>
          </a:p>
          <a:p>
            <a:r>
              <a:t>- How do you stop the AI making things up? It only sees evidence we pick; every claim needs a citation; a checker drops the rest (81/94 kept).</a:t>
            </a:r>
          </a:p>
          <a:p>
            <a:r>
              <a:t>- Why a small local model? Open-weight, free, private (code never leaves the laptop), ~2.5 min per plan.</a:t>
            </a:r>
          </a:p>
          <a:p>
            <a:r>
              <a:t>- Where do the numbers come from? Expertise and truck factor: published research. Importance weights: our choice.</a:t>
            </a:r>
          </a:p>
          <a:p>
            <a:r>
              <a:t>- What if the GPU fails in the demo? Results are cached; the demo page needs no GPU.</a:t>
            </a:r>
          </a:p>
          <a:p>
            <a:r>
              <a:t>- 500+ contributors but only 4 developers? Only source-code files count; one-line list edits aren't code expertise.</a:t>
            </a:r>
          </a:p>
          <a:p>
            <a:r>
              <a:t>- More commits but not the top expert? Expertise is per file and goes stale when others rewrite your code.</a:t>
            </a:r>
          </a:p>
          <a:p>
            <a:r>
              <a:t>- Why is the successor sometimes 'none'? Nobody active in the last 12 months has worked on that folder.</a:t>
            </a:r>
          </a:p>
          <a:p>
            <a:r>
              <a:t>- Is risk between 0 and 1? No: it adds up importance across a folder's files; compare within one repo.</a:t>
            </a:r>
          </a:p>
          <a:p>
            <a:r>
              <a:t>- Why top 5 folders? Time (each file is a model call) and focus; risk is usually concentrated.</a:t>
            </a:r>
          </a:p>
          <a:p>
            <a:r>
              <a:t>- Why a successor per folder? Teams own areas, not files; per-file signals are too thin.</a:t>
            </a:r>
          </a:p>
          <a:p>
            <a:r>
              <a:t>- Other languages? Yes, with less detail: the history math is language-agnostic; imports are Python-only.</a:t>
            </a:r>
          </a:p>
          <a:p>
            <a:r>
              <a:t>- Does it post to GitHub? Never; it writes local files for a human to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andoff-mu-mauve.vercel.app/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handoff-mu-mauve.vercel.app/" TargetMode="Externa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andoff-mu-mauve.vercel.app/" TargetMode="Externa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2410C"/>
                </a:solidFill>
                <a:latin typeface="Arial"/>
              </a:rPr>
              <a:t>HACKTOBERFEST HACK DAY 2026  ·  AI FOR OPEN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0" b="1" i="0">
                <a:solidFill>
                  <a:srgbClr val="FAFAF9"/>
                </a:solidFill>
                <a:latin typeface="Arial"/>
              </a:rPr>
              <a:t>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AFAF9"/>
                </a:solidFill>
                <a:latin typeface="Calibri"/>
              </a:rPr>
              <a:t>What do we lose when a maintainer leaves, and what should we do before they go?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920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AFAF9"/>
                </a:solidFill>
                <a:latin typeface="Arial"/>
              </a:rPr>
              <a:t>Measure</a:t>
            </a:r>
          </a:p>
        </p:txBody>
      </p:sp>
      <p:sp>
        <p:nvSpPr>
          <p:cNvPr id="7" name="Oval 6"/>
          <p:cNvSpPr/>
          <p:nvPr/>
        </p:nvSpPr>
        <p:spPr>
          <a:xfrm>
            <a:off x="2926080" y="4846320"/>
            <a:ext cx="502920" cy="5029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48920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AFAF9"/>
                </a:solidFill>
                <a:latin typeface="Arial"/>
              </a:rPr>
              <a:t>Explain</a:t>
            </a:r>
          </a:p>
        </p:txBody>
      </p:sp>
      <p:sp>
        <p:nvSpPr>
          <p:cNvPr id="9" name="Oval 8"/>
          <p:cNvSpPr/>
          <p:nvPr/>
        </p:nvSpPr>
        <p:spPr>
          <a:xfrm>
            <a:off x="5120640" y="4846320"/>
            <a:ext cx="502920" cy="5029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48920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AFAF9"/>
                </a:solidFill>
                <a:latin typeface="Arial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8A29E"/>
                </a:solidFill>
                <a:latin typeface="Calibri"/>
              </a:rPr>
              <a:t>Live demo:  </a:t>
            </a:r>
            <a:r>
              <a:rPr sz="1600" b="1" i="0">
                <a:solidFill>
                  <a:srgbClr val="C2410C"/>
                </a:solidFill>
                <a:latin typeface="Calibri"/>
                <a:hlinkClick r:id="rId2"/>
              </a:rPr>
              <a:t>handoff-mu-mauve.vercel.app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914400"/>
            <a:ext cx="3749039" cy="4572000"/>
          </a:xfrm>
          <a:prstGeom prst="roundRect">
            <a:avLst>
              <a:gd name="adj" fmla="val 8000"/>
            </a:avLst>
          </a:prstGeom>
          <a:solidFill>
            <a:srgbClr val="292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83879" y="1188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8A29E"/>
                </a:solidFill>
                <a:latin typeface="Courier New"/>
              </a:rPr>
              <a:t>psf/requests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6459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AFAF9"/>
                </a:solidFill>
                <a:latin typeface="Arial"/>
              </a:rPr>
              <a:t>515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8A29E"/>
                </a:solidFill>
                <a:latin typeface="Calibri"/>
              </a:rPr>
              <a:t>people have contributed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2004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C2410C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1148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8A29E"/>
                </a:solidFill>
                <a:latin typeface="Calibri"/>
              </a:rPr>
              <a:t>people hold most of the code knowledge (truck factor)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THE PROBLEM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1917"/>
                </a:solidFill>
                <a:latin typeface="Arial"/>
              </a:rPr>
              <a:t>Knowledge leaves with people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C2410C"/>
                </a:solidFill>
                <a:latin typeface="Arial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105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1917"/>
                </a:solidFill>
                <a:latin typeface="Arial"/>
              </a:rPr>
              <a:t>Contributor counts hide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1284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7534E"/>
                </a:solidFill>
                <a:latin typeface="Calibri"/>
              </a:rPr>
              <a:t>Hundreds of names, but most made one-off changes.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C2410C"/>
                </a:solidFill>
                <a:latin typeface="Arial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1821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1917"/>
                </a:solidFill>
                <a:latin typeface="Arial"/>
              </a:rPr>
              <a:t>Teams find out too 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8444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7534E"/>
                </a:solidFill>
                <a:latin typeface="Calibri"/>
              </a:rPr>
              <a:t>When a bug lands in code nobody left can explain.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C2410C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537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1917"/>
                </a:solidFill>
                <a:latin typeface="Arial"/>
              </a:rPr>
              <a:t>“Please write docs” doesn't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95604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7534E"/>
                </a:solidFill>
                <a:latin typeface="Calibri"/>
              </a:rPr>
              <a:t>Nobody knows what to document, or for whom.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783080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C1917"/>
                </a:solidFill>
                <a:latin typeface="Arial"/>
              </a:rPr>
              <a:t>Handoff gives a team three answers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377440"/>
            <a:ext cx="5623560" cy="11430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217920" y="2679192"/>
            <a:ext cx="502920" cy="5029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50545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1917"/>
                </a:solidFill>
                <a:latin typeface="Calibri"/>
              </a:rPr>
              <a:t>Impact numbers  </a:t>
            </a:r>
            <a:r>
              <a:rPr sz="1500" b="1" i="0">
                <a:solidFill>
                  <a:srgbClr val="C2410C"/>
                </a:solidFill>
                <a:latin typeface="Calibri"/>
              </a:rPr>
              <a:t>How bad is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926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7534E"/>
                </a:solidFill>
                <a:latin typeface="Calibri"/>
              </a:rPr>
              <a:t>13 files lose their only expert; truck factor 3 →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657600"/>
            <a:ext cx="5623560" cy="11430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217920" y="3959352"/>
            <a:ext cx="502920" cy="5029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785615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1917"/>
                </a:solidFill>
                <a:latin typeface="Calibri"/>
              </a:rPr>
              <a:t>Ranked code  </a:t>
            </a:r>
            <a:r>
              <a:rPr sz="1500" b="1" i="0">
                <a:solidFill>
                  <a:srgbClr val="C2410C"/>
                </a:solidFill>
                <a:latin typeface="Calibri"/>
              </a:rPr>
              <a:t>Where does it hurt most?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2062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7534E"/>
                </a:solidFill>
                <a:latin typeface="Calibri"/>
              </a:rPr>
              <a:t>Folders ranked by risk, with a suggested successor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4937760"/>
            <a:ext cx="5623560" cy="11430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217920" y="5239512"/>
            <a:ext cx="502920" cy="5029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06577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1917"/>
                </a:solidFill>
                <a:latin typeface="Calibri"/>
              </a:rPr>
              <a:t>Knowledge-transfer plan  </a:t>
            </a:r>
            <a:r>
              <a:rPr sz="1500" b="1" i="0">
                <a:solidFill>
                  <a:srgbClr val="C2410C"/>
                </a:solidFill>
                <a:latin typeface="Calibri"/>
              </a:rPr>
              <a:t>What do we do now?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4864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7534E"/>
                </a:solidFill>
                <a:latin typeface="Calibri"/>
              </a:rPr>
              <a:t>What the code does, its traps, questions to ask,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HOW IT WORKS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1917"/>
                </a:solidFill>
                <a:latin typeface="Arial"/>
              </a:rPr>
              <a:t>Math decides, AI explains, code checks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1828800" cy="192024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1917"/>
                </a:solidFill>
                <a:latin typeface="Arial"/>
              </a:rPr>
              <a:t>Git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7534E"/>
                </a:solidFill>
                <a:latin typeface="Calibri"/>
              </a:rPr>
              <a:t>Every commit: who, when, which files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32304" y="2715768"/>
            <a:ext cx="365760" cy="329184"/>
          </a:xfrm>
          <a:prstGeom prst="rightArrow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852928" y="1920240"/>
            <a:ext cx="1828800" cy="192024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35808" y="210312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1917"/>
                </a:solidFill>
                <a:latin typeface="Arial"/>
              </a:rPr>
              <a:t>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606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7534E"/>
                </a:solidFill>
                <a:latin typeface="Calibri"/>
              </a:rPr>
              <a:t>Who knows what, and what's lost. Pure math, no AI.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36592" y="2715768"/>
            <a:ext cx="365760" cy="329184"/>
          </a:xfrm>
          <a:prstGeom prst="rightArrow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157216" y="1920240"/>
            <a:ext cx="1828800" cy="192024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40096" y="210312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1917"/>
                </a:solidFill>
                <a:latin typeface="Arial"/>
              </a:rPr>
              <a:t>AI explains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2606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7534E"/>
                </a:solidFill>
                <a:latin typeface="Calibri"/>
              </a:rPr>
              <a:t>A local model writes notes on the risky code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40879" y="2715768"/>
            <a:ext cx="365760" cy="329184"/>
          </a:xfrm>
          <a:prstGeom prst="rightArrow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461504" y="1920240"/>
            <a:ext cx="1828800" cy="1920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44383" y="210312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1917"/>
                </a:solidFill>
                <a:latin typeface="Arial"/>
              </a:rPr>
              <a:t>Checker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3" y="2606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7534E"/>
                </a:solidFill>
                <a:latin typeface="Calibri"/>
              </a:rPr>
              <a:t>Drops every claim it can't trace to evidence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45168" y="2715768"/>
            <a:ext cx="365760" cy="329184"/>
          </a:xfrm>
          <a:prstGeom prst="rightArrow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765792" y="1920240"/>
            <a:ext cx="1828800" cy="1920240"/>
          </a:xfrm>
          <a:prstGeom prst="roundRect">
            <a:avLst>
              <a:gd name="adj" fmla="val 8000"/>
            </a:avLst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48672" y="210312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AFAF9"/>
                </a:solidFill>
                <a:latin typeface="Arial"/>
              </a:rPr>
              <a:t>KT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26060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AFAF9"/>
                </a:solidFill>
                <a:latin typeface="Calibri"/>
              </a:rPr>
              <a:t>Cited plan + web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434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1917"/>
                </a:solidFill>
                <a:latin typeface="Arial"/>
              </a:rPr>
              <a:t>Reproducible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7534E"/>
                </a:solidFill>
                <a:latin typeface="Calibri"/>
              </a:rPr>
              <a:t>Risk comes from math, so it can't be hallucinated.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43434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1917"/>
                </a:solidFill>
                <a:latin typeface="Arial"/>
              </a:rPr>
              <a:t>Right job for the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475488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7534E"/>
                </a:solidFill>
                <a:latin typeface="Calibri"/>
              </a:rPr>
              <a:t>LLMs are good at explaining, bad at judging what matters.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43434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1917"/>
                </a:solidFill>
                <a:latin typeface="Arial"/>
              </a:rPr>
              <a:t>Measurable trust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475488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7534E"/>
                </a:solidFill>
                <a:latin typeface="Calibri"/>
              </a:rPr>
              <a:t>The checker turns “trust the AI” into a number.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7534E"/>
                </a:solidFill>
                <a:latin typeface="Calibri"/>
              </a:rPr>
              <a:t>The two halves meet in one file (analysis.json), so they were built in parallel by two people.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PART 1 · FINDING THE EXPERTS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1917"/>
                </a:solidFill>
                <a:latin typeface="Arial"/>
              </a:rPr>
              <a:t>Who knows what, and what's lost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1917"/>
                </a:solidFill>
                <a:latin typeface="Arial"/>
              </a:rPr>
              <a:t>Three signals → one expertise score per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2057400" cy="77724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13232" y="2404872"/>
            <a:ext cx="457200" cy="45720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5803D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4028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Calibri"/>
              </a:rPr>
              <a:t>Created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240280"/>
            <a:ext cx="2057400" cy="77724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2907792" y="2404872"/>
            <a:ext cx="457200" cy="45720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5803D"/>
                </a:solidFill>
                <a:latin typeface="Arial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4028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Calibri"/>
              </a:rPr>
              <a:t>Changed it often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59" y="2240280"/>
            <a:ext cx="2057400" cy="77724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102351" y="2404872"/>
            <a:ext cx="457200" cy="457200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B91C1C"/>
                </a:solidFill>
                <a:latin typeface="Arial"/>
              </a:rPr>
              <a:t>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224028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Calibri"/>
              </a:rPr>
              <a:t>Others edited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7534E"/>
                </a:solidFill>
                <a:latin typeface="Calibri"/>
              </a:rPr>
              <a:t>Degree of Authorship, from published research. A high enough score makes you an author (expert).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1917"/>
                </a:solidFill>
                <a:latin typeface="Arial"/>
              </a:rPr>
              <a:t>If Kenneth Reitz leaves psf/requests: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1917"/>
                </a:solidFill>
                <a:latin typeface="Courier New"/>
              </a:rPr>
              <a:t>models.py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4334256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331720" y="4334256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2410C"/>
                </a:solidFill>
                <a:latin typeface="Calibri"/>
              </a:rPr>
              <a:t>ORPHANED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42976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7534E"/>
                </a:solidFill>
                <a:latin typeface="Calibri"/>
              </a:rPr>
              <a:t>only Kenneth knows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19472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1917"/>
                </a:solidFill>
                <a:latin typeface="Courier New"/>
              </a:rPr>
              <a:t>compat.py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4956048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331720" y="4956048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Calibri"/>
              </a:rPr>
              <a:t>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91947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7534E"/>
                </a:solidFill>
                <a:latin typeface="Calibri"/>
              </a:rPr>
              <a:t>Kenneth and Nate know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4126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1917"/>
                </a:solidFill>
                <a:latin typeface="Courier New"/>
              </a:rPr>
              <a:t>_types.py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557784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331720" y="557784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SAFE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554126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7534E"/>
                </a:solidFill>
                <a:latin typeface="Calibri"/>
              </a:rPr>
              <a:t>only Nate knows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737360"/>
            <a:ext cx="4297680" cy="448056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635240" y="196596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C2410C"/>
                </a:solidFill>
                <a:latin typeface="Arial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58775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7534E"/>
                </a:solidFill>
                <a:latin typeface="Calibri"/>
              </a:rPr>
              <a:t>files lose their only expert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10896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C2410C"/>
                </a:solidFill>
                <a:latin typeface="Arial"/>
              </a:rPr>
              <a:t>100% → 65%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73075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7534E"/>
                </a:solidFill>
                <a:latin typeface="Calibri"/>
              </a:rPr>
              <a:t>files that still have an expert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25196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C2410C"/>
                </a:solidFill>
                <a:latin typeface="Arial"/>
              </a:rPr>
              <a:t>3 →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87375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7534E"/>
                </a:solidFill>
                <a:latin typeface="Calibri"/>
              </a:rPr>
              <a:t>truck factor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44068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C1917"/>
                </a:solidFill>
                <a:latin typeface="Calibri"/>
              </a:rPr>
              <a:t>Then folders are ranked by how much important code (size, imports, recent work) loses its expert.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PART 2 · THE KNOWLEDGE-TRANSFER PLAN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1917"/>
                </a:solidFill>
                <a:latin typeface="Arial"/>
              </a:rPr>
              <a:t>Every claim must show its proof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Calibri"/>
              </a:rPr>
              <a:t>Evidence pack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56816" y="1984248"/>
            <a:ext cx="237744" cy="274320"/>
          </a:xfrm>
          <a:prstGeom prst="rightArrow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231136" y="17830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231136" y="178308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Calibri"/>
              </a:rPr>
              <a:t>AI notes, each claim cited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79392" y="1984248"/>
            <a:ext cx="237744" cy="274320"/>
          </a:xfrm>
          <a:prstGeom prst="rightArrow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553712" y="1783080"/>
            <a:ext cx="1097280" cy="6858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1097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Calibri"/>
              </a:rPr>
              <a:t>Checker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87568" y="1984248"/>
            <a:ext cx="237744" cy="274320"/>
          </a:xfrm>
          <a:prstGeom prst="rightArrow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961888" y="1783080"/>
            <a:ext cx="1143000" cy="68580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61888" y="1783080"/>
            <a:ext cx="1143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C1917"/>
                </a:solidFill>
                <a:latin typeface="Calibri"/>
              </a:rPr>
              <a:t>Cited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43200"/>
            <a:ext cx="6720840" cy="896112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Calibri"/>
              </a:rPr>
              <a:t>“Reverting the max_retries change caused issues”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186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commit 23d8522 was in the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990088"/>
            <a:ext cx="1188720" cy="402336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852160" y="2990088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KEPT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67328"/>
            <a:ext cx="6720840" cy="896112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85876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Calibri"/>
              </a:rPr>
              <a:t>“LookupDict is at structures.py line 91”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4281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never shown: the class is really at line 96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014216"/>
            <a:ext cx="1188720" cy="402336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852160" y="4014216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91C1C"/>
                </a:solidFill>
                <a:latin typeface="Calibri"/>
              </a:rPr>
              <a:t>DROPPED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91456"/>
            <a:ext cx="6720840" cy="896112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48828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1917"/>
                </a:solidFill>
                <a:latin typeface="Calibri"/>
              </a:rPr>
              <a:t>“Why is the urllib3 version check so complex?”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6694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intent isn't in the evidence, so it's asked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038344"/>
            <a:ext cx="1188720" cy="402336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852160" y="5038344"/>
            <a:ext cx="1188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2410C"/>
                </a:solidFill>
                <a:latin typeface="Calibri"/>
              </a:rPr>
              <a:t>ASKED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6720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Verified = correctly cited, not guaranteed true. Every claim links to its line on GitHub.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1783080"/>
            <a:ext cx="4023360" cy="1874519"/>
          </a:xfrm>
          <a:prstGeom prst="roundRect">
            <a:avLst>
              <a:gd name="adj" fmla="val 8000"/>
            </a:avLst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63840" y="192024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AFAF9"/>
                </a:solidFill>
                <a:latin typeface="Arial"/>
              </a:rPr>
              <a:t>81 / 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6974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8A29E"/>
                </a:solidFill>
                <a:latin typeface="Calibri"/>
              </a:rPr>
              <a:t>claims verified on the requests plan. The rest were dropped.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7589520" y="3840480"/>
          <a:ext cx="4023360" cy="205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589520" y="58978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Local, open model: code never leaves the laptop.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SEE IT WORKING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1917"/>
                </a:solidFill>
                <a:latin typeface="Arial"/>
              </a:rPr>
              <a:t>From a GitHub URL to a cited plan</a:t>
            </a:r>
          </a:p>
        </p:txBody>
      </p:sp>
      <p:pic>
        <p:nvPicPr>
          <p:cNvPr id="4" name="Picture 3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3826412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86532" y="1737360"/>
            <a:ext cx="6856522" cy="201168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106572" y="1920240"/>
            <a:ext cx="62164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C1917"/>
                </a:solidFill>
                <a:latin typeface="Arial"/>
              </a:rPr>
              <a:t>Demo page  ·  live on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6572" y="2377440"/>
            <a:ext cx="621644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7534E"/>
                </a:solidFill>
                <a:latin typeface="Calibri"/>
              </a:rPr>
              <a:t>Impact, ranked folders, heatmap and the plan with clickable citations, for 3 sample repos. Read-only; needs no GPU.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6572" y="3200400"/>
            <a:ext cx="621644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7534E"/>
                </a:solidFill>
                <a:latin typeface="Calibri"/>
              </a:rPr>
              <a:t>Try it:  </a:t>
            </a:r>
            <a:r>
              <a:rPr sz="1600" b="1" i="0">
                <a:solidFill>
                  <a:srgbClr val="C2410C"/>
                </a:solidFill>
                <a:latin typeface="Calibri"/>
                <a:hlinkClick r:id="rId3"/>
              </a:rPr>
              <a:t>handoff-mu-mauve.vercel.app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86532" y="3931920"/>
            <a:ext cx="6856522" cy="2377440"/>
          </a:xfrm>
          <a:prstGeom prst="roundRect">
            <a:avLst>
              <a:gd name="adj" fmla="val 8000"/>
            </a:avLst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06572" y="4096512"/>
            <a:ext cx="62164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AFAF9"/>
                </a:solidFill>
                <a:latin typeface="Arial"/>
              </a:rPr>
              <a:t>Handoff Studio  ·  any repo, locally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6572" y="4590288"/>
            <a:ext cx="621644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FAFAF9"/>
                </a:solidFill>
                <a:latin typeface="Calibri"/>
              </a:rPr>
              <a:t>Paste any GitHub URL: it clones and analyses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FAFAF9"/>
                </a:solidFill>
                <a:latin typeface="Calibri"/>
              </a:rPr>
              <a:t>Pick who leaves, see the impact instantly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FAFAF9"/>
                </a:solidFill>
                <a:latin typeface="Calibri"/>
              </a:rPr>
              <a:t>Generate with a live progress bar; stop and resume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FAFAF9"/>
                </a:solidFill>
                <a:latin typeface="Calibri"/>
              </a:rPr>
              <a:t>Top 5 / 10 / all files per folder; delete runs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BEING HONEST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1917"/>
                </a:solidFill>
                <a:latin typeface="Arial"/>
              </a:rPr>
              <a:t>What's proven, what's ours, 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66160" cy="333756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803D"/>
                </a:solidFill>
                <a:latin typeface="Arial"/>
              </a:rPr>
              <a:t>From published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87168"/>
            <a:ext cx="3154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5803D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1917"/>
                </a:solidFill>
                <a:latin typeface="Calibri"/>
              </a:rPr>
              <a:t>Expertise score (DOA)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    DOA = 3.293 + 1.098·FA + 0.164·DL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              − 0.321·ln(1 + AC)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    FA created it · DL own · AC others' commits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    Fritz et al., ICSE 2010 · ACM TOSEM 2014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5803D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1917"/>
                </a:solidFill>
                <a:latin typeface="Calibri"/>
              </a:rPr>
              <a:t>Expert rule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    normalised DOA &gt; 0.75 and DOA ≥ 3.293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5803D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1917"/>
                </a:solidFill>
                <a:latin typeface="Calibri"/>
              </a:rPr>
              <a:t>Truck factor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    remove top experts until &lt; 50% covered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    both: Avelino et al., ICPC 2016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783080"/>
            <a:ext cx="3566160" cy="333756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1999" y="19659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2410C"/>
                </a:solidFill>
                <a:latin typeface="Arial"/>
              </a:rPr>
              <a:t>Our documented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487168"/>
            <a:ext cx="3154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1917"/>
                </a:solidFill>
                <a:latin typeface="Calibri"/>
              </a:rPr>
              <a:t>Importance weights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    40% size · 40% files importing it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    20% leaver's commits, last 12 months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1917"/>
                </a:solidFill>
                <a:latin typeface="Calibri"/>
              </a:rPr>
              <a:t>Folder risk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    orphaned ×1 + at-risk ×0.5 · top 5 folders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1917"/>
                </a:solidFill>
                <a:latin typeface="Calibri"/>
              </a:rPr>
              <a:t>Successor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    active in last 12 months · highest total DOA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1917"/>
                </a:solidFill>
                <a:latin typeface="Calibri"/>
              </a:rPr>
              <a:t>Filters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    no bots · no commits over 100 files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7534E"/>
                </a:solidFill>
                <a:latin typeface="Calibri"/>
              </a:rPr>
              <a:t>    source code only (no vendor or build)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783080"/>
            <a:ext cx="3566160" cy="3337560"/>
          </a:xfrm>
          <a:prstGeom prst="roundRect">
            <a:avLst>
              <a:gd name="adj" fmla="val 8000"/>
            </a:avLst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1040" y="19659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57534E"/>
                </a:solidFill>
                <a:latin typeface="Arial"/>
              </a:rPr>
              <a:t>Limits we state openly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87168"/>
            <a:ext cx="3154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7534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1917"/>
                </a:solidFill>
                <a:latin typeface="Calibri"/>
              </a:rPr>
              <a:t>Git history isn't understanding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7534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1917"/>
                </a:solidFill>
                <a:latin typeface="Calibri"/>
              </a:rPr>
              <a:t>Verified ≠ guaranteed true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57534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C1917"/>
                </a:solidFill>
                <a:latin typeface="Calibri"/>
              </a:rPr>
              <a:t>Python gets the most detail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0352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539496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AFAF9"/>
                </a:solidFill>
                <a:latin typeface="Arial"/>
              </a:rPr>
              <a:t>Handoff finds the code only one person understands, and turns their departure into a checked, cited plan.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0807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Try it: </a:t>
            </a:r>
            <a:r>
              <a:rPr sz="1500" b="1" i="0">
                <a:solidFill>
                  <a:srgbClr val="FAFAF9"/>
                </a:solidFill>
                <a:latin typeface="Calibri"/>
                <a:hlinkClick r:id="rId2"/>
              </a:rPr>
              <a:t>handoff-mu-mauve.vercel.app</a:t>
            </a:r>
            <a:r>
              <a:rPr sz="1500" b="1" i="0">
                <a:solidFill>
                  <a:srgbClr val="C2410C"/>
                </a:solidFill>
                <a:latin typeface="Calibri"/>
              </a:rPr>
              <a:t>     Next: </a:t>
            </a:r>
            <a:r>
              <a:rPr sz="1500" b="0" i="0">
                <a:solidFill>
                  <a:srgbClr val="A8A29E"/>
                </a:solidFill>
                <a:latin typeface="Calibri"/>
              </a:rPr>
              <a:t>GitHub Action · Co-authored-by · CODEOWNERS check     </a:t>
            </a:r>
            <a:r>
              <a:rPr sz="1500" b="0" i="0">
                <a:solidFill>
                  <a:srgbClr val="A8A29E"/>
                </a:solidFill>
                <a:latin typeface="Calibri"/>
              </a:rPr>
              <a:t>MIT · runs locally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2410C"/>
      </a:hlink>
      <a:folHlink>
        <a:srgbClr val="C2410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